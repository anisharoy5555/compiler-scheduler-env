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5" r:id="rId3"/>
    <p:sldId id="269" r:id="rId4"/>
    <p:sldId id="272" r:id="rId5"/>
    <p:sldId id="284" r:id="rId6"/>
    <p:sldId id="274" r:id="rId7"/>
    <p:sldId id="282" r:id="rId8"/>
    <p:sldId id="275" r:id="rId9"/>
    <p:sldId id="283" r:id="rId10"/>
    <p:sldId id="276" r:id="rId11"/>
    <p:sldId id="277" r:id="rId12"/>
    <p:sldId id="278" r:id="rId13"/>
    <p:sldId id="279" r:id="rId14"/>
    <p:sldId id="280" r:id="rId15"/>
    <p:sldId id="285" r:id="rId16"/>
    <p:sldId id="28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0E0E0"/>
    <a:srgbClr val="156082"/>
    <a:srgbClr val="F0F0F0"/>
    <a:srgbClr val="F4F4F4"/>
    <a:srgbClr val="F1F1F1"/>
    <a:srgbClr val="FFF2C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76" d="100"/>
          <a:sy n="76" d="100"/>
        </p:scale>
        <p:origin x="26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46BE3-FF2F-830D-A303-DEDF372D04A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5722484-C8F3-B58F-383E-57C0DD6DB2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01785AA-CAB2-38CF-9868-898FF7A3ADE4}"/>
              </a:ext>
            </a:extLst>
          </p:cNvPr>
          <p:cNvSpPr>
            <a:spLocks noGrp="1"/>
          </p:cNvSpPr>
          <p:nvPr>
            <p:ph type="dt" sz="half" idx="10"/>
          </p:nvPr>
        </p:nvSpPr>
        <p:spPr/>
        <p:txBody>
          <a:bodyPr/>
          <a:lstStyle/>
          <a:p>
            <a:fld id="{24F3661A-AEF5-437A-9AAA-BE3548025C0F}" type="datetimeFigureOut">
              <a:rPr lang="en-IN" smtClean="0"/>
              <a:t>26-04-2026</a:t>
            </a:fld>
            <a:endParaRPr lang="en-IN"/>
          </a:p>
        </p:txBody>
      </p:sp>
      <p:sp>
        <p:nvSpPr>
          <p:cNvPr id="5" name="Footer Placeholder 4">
            <a:extLst>
              <a:ext uri="{FF2B5EF4-FFF2-40B4-BE49-F238E27FC236}">
                <a16:creationId xmlns:a16="http://schemas.microsoft.com/office/drawing/2014/main" id="{683B6BB8-889B-F696-877F-94DF6FA02C7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D056F36-119F-6354-5269-DA71EE308AEB}"/>
              </a:ext>
            </a:extLst>
          </p:cNvPr>
          <p:cNvSpPr>
            <a:spLocks noGrp="1"/>
          </p:cNvSpPr>
          <p:nvPr>
            <p:ph type="sldNum" sz="quarter" idx="12"/>
          </p:nvPr>
        </p:nvSpPr>
        <p:spPr/>
        <p:txBody>
          <a:bodyPr/>
          <a:lstStyle/>
          <a:p>
            <a:fld id="{1BFAC212-B252-4475-B960-077E3887FCA4}" type="slidenum">
              <a:rPr lang="en-IN" smtClean="0"/>
              <a:t>‹#›</a:t>
            </a:fld>
            <a:endParaRPr lang="en-IN"/>
          </a:p>
        </p:txBody>
      </p:sp>
    </p:spTree>
    <p:extLst>
      <p:ext uri="{BB962C8B-B14F-4D97-AF65-F5344CB8AC3E}">
        <p14:creationId xmlns:p14="http://schemas.microsoft.com/office/powerpoint/2010/main" val="2625678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C2812-86F9-D05D-710F-AAF31B383B7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2E9D1AE-C389-9C78-B478-8B6FA7A562E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D88B268-E4EC-DEB9-A33E-214B5C137935}"/>
              </a:ext>
            </a:extLst>
          </p:cNvPr>
          <p:cNvSpPr>
            <a:spLocks noGrp="1"/>
          </p:cNvSpPr>
          <p:nvPr>
            <p:ph type="dt" sz="half" idx="10"/>
          </p:nvPr>
        </p:nvSpPr>
        <p:spPr/>
        <p:txBody>
          <a:bodyPr/>
          <a:lstStyle/>
          <a:p>
            <a:fld id="{24F3661A-AEF5-437A-9AAA-BE3548025C0F}" type="datetimeFigureOut">
              <a:rPr lang="en-IN" smtClean="0"/>
              <a:t>26-04-2026</a:t>
            </a:fld>
            <a:endParaRPr lang="en-IN"/>
          </a:p>
        </p:txBody>
      </p:sp>
      <p:sp>
        <p:nvSpPr>
          <p:cNvPr id="5" name="Footer Placeholder 4">
            <a:extLst>
              <a:ext uri="{FF2B5EF4-FFF2-40B4-BE49-F238E27FC236}">
                <a16:creationId xmlns:a16="http://schemas.microsoft.com/office/drawing/2014/main" id="{85FADFE9-23C3-094E-3110-775C973898E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DF58D99-013D-CD81-8E98-578C0503A409}"/>
              </a:ext>
            </a:extLst>
          </p:cNvPr>
          <p:cNvSpPr>
            <a:spLocks noGrp="1"/>
          </p:cNvSpPr>
          <p:nvPr>
            <p:ph type="sldNum" sz="quarter" idx="12"/>
          </p:nvPr>
        </p:nvSpPr>
        <p:spPr/>
        <p:txBody>
          <a:bodyPr/>
          <a:lstStyle/>
          <a:p>
            <a:fld id="{1BFAC212-B252-4475-B960-077E3887FCA4}" type="slidenum">
              <a:rPr lang="en-IN" smtClean="0"/>
              <a:t>‹#›</a:t>
            </a:fld>
            <a:endParaRPr lang="en-IN"/>
          </a:p>
        </p:txBody>
      </p:sp>
    </p:spTree>
    <p:extLst>
      <p:ext uri="{BB962C8B-B14F-4D97-AF65-F5344CB8AC3E}">
        <p14:creationId xmlns:p14="http://schemas.microsoft.com/office/powerpoint/2010/main" val="2420835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45BFA-6789-9E8C-32E8-C29DB6351E5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80DC88C-E6B2-9B79-B8F9-0F606B2EBEE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3E356E2-9281-859E-8947-8E8113599D08}"/>
              </a:ext>
            </a:extLst>
          </p:cNvPr>
          <p:cNvSpPr>
            <a:spLocks noGrp="1"/>
          </p:cNvSpPr>
          <p:nvPr>
            <p:ph type="dt" sz="half" idx="10"/>
          </p:nvPr>
        </p:nvSpPr>
        <p:spPr/>
        <p:txBody>
          <a:bodyPr/>
          <a:lstStyle/>
          <a:p>
            <a:fld id="{24F3661A-AEF5-437A-9AAA-BE3548025C0F}" type="datetimeFigureOut">
              <a:rPr lang="en-IN" smtClean="0"/>
              <a:t>26-04-2026</a:t>
            </a:fld>
            <a:endParaRPr lang="en-IN"/>
          </a:p>
        </p:txBody>
      </p:sp>
      <p:sp>
        <p:nvSpPr>
          <p:cNvPr id="5" name="Footer Placeholder 4">
            <a:extLst>
              <a:ext uri="{FF2B5EF4-FFF2-40B4-BE49-F238E27FC236}">
                <a16:creationId xmlns:a16="http://schemas.microsoft.com/office/drawing/2014/main" id="{3D4DFDB5-189E-D188-BC04-0DF0680914A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CB88C57-A8A9-CA4C-C58B-F3A2D3CBE0B4}"/>
              </a:ext>
            </a:extLst>
          </p:cNvPr>
          <p:cNvSpPr>
            <a:spLocks noGrp="1"/>
          </p:cNvSpPr>
          <p:nvPr>
            <p:ph type="sldNum" sz="quarter" idx="12"/>
          </p:nvPr>
        </p:nvSpPr>
        <p:spPr/>
        <p:txBody>
          <a:bodyPr/>
          <a:lstStyle/>
          <a:p>
            <a:fld id="{1BFAC212-B252-4475-B960-077E3887FCA4}" type="slidenum">
              <a:rPr lang="en-IN" smtClean="0"/>
              <a:t>‹#›</a:t>
            </a:fld>
            <a:endParaRPr lang="en-IN"/>
          </a:p>
        </p:txBody>
      </p:sp>
    </p:spTree>
    <p:extLst>
      <p:ext uri="{BB962C8B-B14F-4D97-AF65-F5344CB8AC3E}">
        <p14:creationId xmlns:p14="http://schemas.microsoft.com/office/powerpoint/2010/main" val="1223869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D50E0-E307-6046-99A5-AB90CF82EF3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5BCC805-7399-074B-F597-2C9B7C87ED3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46AC7FC-A698-C699-A1D9-F5D21F09A48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EA03675-0A91-6619-2806-6CD06B80E061}"/>
              </a:ext>
            </a:extLst>
          </p:cNvPr>
          <p:cNvSpPr>
            <a:spLocks noGrp="1"/>
          </p:cNvSpPr>
          <p:nvPr>
            <p:ph type="dt" sz="half" idx="10"/>
          </p:nvPr>
        </p:nvSpPr>
        <p:spPr/>
        <p:txBody>
          <a:bodyPr/>
          <a:lstStyle/>
          <a:p>
            <a:fld id="{24F3661A-AEF5-437A-9AAA-BE3548025C0F}" type="datetimeFigureOut">
              <a:rPr lang="en-IN" smtClean="0"/>
              <a:t>26-04-2026</a:t>
            </a:fld>
            <a:endParaRPr lang="en-IN"/>
          </a:p>
        </p:txBody>
      </p:sp>
      <p:sp>
        <p:nvSpPr>
          <p:cNvPr id="6" name="Footer Placeholder 5">
            <a:extLst>
              <a:ext uri="{FF2B5EF4-FFF2-40B4-BE49-F238E27FC236}">
                <a16:creationId xmlns:a16="http://schemas.microsoft.com/office/drawing/2014/main" id="{A376AB2F-45E3-F75E-38EF-D89ACE2EBBE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335BEB6-50C2-3746-B2E4-811681CBAACF}"/>
              </a:ext>
            </a:extLst>
          </p:cNvPr>
          <p:cNvSpPr>
            <a:spLocks noGrp="1"/>
          </p:cNvSpPr>
          <p:nvPr>
            <p:ph type="sldNum" sz="quarter" idx="12"/>
          </p:nvPr>
        </p:nvSpPr>
        <p:spPr/>
        <p:txBody>
          <a:bodyPr/>
          <a:lstStyle/>
          <a:p>
            <a:fld id="{1BFAC212-B252-4475-B960-077E3887FCA4}" type="slidenum">
              <a:rPr lang="en-IN" smtClean="0"/>
              <a:t>‹#›</a:t>
            </a:fld>
            <a:endParaRPr lang="en-IN"/>
          </a:p>
        </p:txBody>
      </p:sp>
    </p:spTree>
    <p:extLst>
      <p:ext uri="{BB962C8B-B14F-4D97-AF65-F5344CB8AC3E}">
        <p14:creationId xmlns:p14="http://schemas.microsoft.com/office/powerpoint/2010/main" val="189466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1012A-FBD5-2EEC-14E6-45A522ABF89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5791008-5C34-DCA1-B2BA-8428478E02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3291F61-6E62-6C51-B0EE-2751A34A57F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FC0CA8D-1B9E-52BC-9B9D-81A979A54A7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FA7C153-BF22-3780-E990-5D15547BDDD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2FC6AB6-6875-9DA1-E0B0-7E298B2DA8D5}"/>
              </a:ext>
            </a:extLst>
          </p:cNvPr>
          <p:cNvSpPr>
            <a:spLocks noGrp="1"/>
          </p:cNvSpPr>
          <p:nvPr>
            <p:ph type="dt" sz="half" idx="10"/>
          </p:nvPr>
        </p:nvSpPr>
        <p:spPr/>
        <p:txBody>
          <a:bodyPr/>
          <a:lstStyle/>
          <a:p>
            <a:fld id="{24F3661A-AEF5-437A-9AAA-BE3548025C0F}" type="datetimeFigureOut">
              <a:rPr lang="en-IN" smtClean="0"/>
              <a:t>26-04-2026</a:t>
            </a:fld>
            <a:endParaRPr lang="en-IN"/>
          </a:p>
        </p:txBody>
      </p:sp>
      <p:sp>
        <p:nvSpPr>
          <p:cNvPr id="8" name="Footer Placeholder 7">
            <a:extLst>
              <a:ext uri="{FF2B5EF4-FFF2-40B4-BE49-F238E27FC236}">
                <a16:creationId xmlns:a16="http://schemas.microsoft.com/office/drawing/2014/main" id="{921E4918-C34C-A40B-ED90-D7C05521893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A57AC19-186D-7016-1EFA-A52CA1B11082}"/>
              </a:ext>
            </a:extLst>
          </p:cNvPr>
          <p:cNvSpPr>
            <a:spLocks noGrp="1"/>
          </p:cNvSpPr>
          <p:nvPr>
            <p:ph type="sldNum" sz="quarter" idx="12"/>
          </p:nvPr>
        </p:nvSpPr>
        <p:spPr/>
        <p:txBody>
          <a:bodyPr/>
          <a:lstStyle/>
          <a:p>
            <a:fld id="{1BFAC212-B252-4475-B960-077E3887FCA4}" type="slidenum">
              <a:rPr lang="en-IN" smtClean="0"/>
              <a:t>‹#›</a:t>
            </a:fld>
            <a:endParaRPr lang="en-IN"/>
          </a:p>
        </p:txBody>
      </p:sp>
    </p:spTree>
    <p:extLst>
      <p:ext uri="{BB962C8B-B14F-4D97-AF65-F5344CB8AC3E}">
        <p14:creationId xmlns:p14="http://schemas.microsoft.com/office/powerpoint/2010/main" val="33843740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85F5D-347F-E235-C629-E1002572AD6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A459349-3A4F-8EDB-035D-5F9A10703AD1}"/>
              </a:ext>
            </a:extLst>
          </p:cNvPr>
          <p:cNvSpPr>
            <a:spLocks noGrp="1"/>
          </p:cNvSpPr>
          <p:nvPr>
            <p:ph type="dt" sz="half" idx="10"/>
          </p:nvPr>
        </p:nvSpPr>
        <p:spPr/>
        <p:txBody>
          <a:bodyPr/>
          <a:lstStyle/>
          <a:p>
            <a:fld id="{24F3661A-AEF5-437A-9AAA-BE3548025C0F}" type="datetimeFigureOut">
              <a:rPr lang="en-IN" smtClean="0"/>
              <a:t>26-04-2026</a:t>
            </a:fld>
            <a:endParaRPr lang="en-IN"/>
          </a:p>
        </p:txBody>
      </p:sp>
      <p:sp>
        <p:nvSpPr>
          <p:cNvPr id="4" name="Footer Placeholder 3">
            <a:extLst>
              <a:ext uri="{FF2B5EF4-FFF2-40B4-BE49-F238E27FC236}">
                <a16:creationId xmlns:a16="http://schemas.microsoft.com/office/drawing/2014/main" id="{3431DE15-7778-CE0A-507A-14A26743241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163C15D-95E3-5096-01A0-18912AB22CC1}"/>
              </a:ext>
            </a:extLst>
          </p:cNvPr>
          <p:cNvSpPr>
            <a:spLocks noGrp="1"/>
          </p:cNvSpPr>
          <p:nvPr>
            <p:ph type="sldNum" sz="quarter" idx="12"/>
          </p:nvPr>
        </p:nvSpPr>
        <p:spPr/>
        <p:txBody>
          <a:bodyPr/>
          <a:lstStyle/>
          <a:p>
            <a:fld id="{1BFAC212-B252-4475-B960-077E3887FCA4}" type="slidenum">
              <a:rPr lang="en-IN" smtClean="0"/>
              <a:t>‹#›</a:t>
            </a:fld>
            <a:endParaRPr lang="en-IN"/>
          </a:p>
        </p:txBody>
      </p:sp>
    </p:spTree>
    <p:extLst>
      <p:ext uri="{BB962C8B-B14F-4D97-AF65-F5344CB8AC3E}">
        <p14:creationId xmlns:p14="http://schemas.microsoft.com/office/powerpoint/2010/main" val="7918507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AB9BF8-7E70-3762-1068-AE8A5EFF80BC}"/>
              </a:ext>
            </a:extLst>
          </p:cNvPr>
          <p:cNvSpPr>
            <a:spLocks noGrp="1"/>
          </p:cNvSpPr>
          <p:nvPr>
            <p:ph type="dt" sz="half" idx="10"/>
          </p:nvPr>
        </p:nvSpPr>
        <p:spPr/>
        <p:txBody>
          <a:bodyPr/>
          <a:lstStyle/>
          <a:p>
            <a:fld id="{24F3661A-AEF5-437A-9AAA-BE3548025C0F}" type="datetimeFigureOut">
              <a:rPr lang="en-IN" smtClean="0"/>
              <a:t>26-04-2026</a:t>
            </a:fld>
            <a:endParaRPr lang="en-IN"/>
          </a:p>
        </p:txBody>
      </p:sp>
      <p:sp>
        <p:nvSpPr>
          <p:cNvPr id="3" name="Footer Placeholder 2">
            <a:extLst>
              <a:ext uri="{FF2B5EF4-FFF2-40B4-BE49-F238E27FC236}">
                <a16:creationId xmlns:a16="http://schemas.microsoft.com/office/drawing/2014/main" id="{8714DC02-7171-D5F7-E3C9-5AFD54DD20B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E4CFBAA-B5A0-E4A1-F396-B2962A89DBA1}"/>
              </a:ext>
            </a:extLst>
          </p:cNvPr>
          <p:cNvSpPr>
            <a:spLocks noGrp="1"/>
          </p:cNvSpPr>
          <p:nvPr>
            <p:ph type="sldNum" sz="quarter" idx="12"/>
          </p:nvPr>
        </p:nvSpPr>
        <p:spPr/>
        <p:txBody>
          <a:bodyPr/>
          <a:lstStyle/>
          <a:p>
            <a:fld id="{1BFAC212-B252-4475-B960-077E3887FCA4}" type="slidenum">
              <a:rPr lang="en-IN" smtClean="0"/>
              <a:t>‹#›</a:t>
            </a:fld>
            <a:endParaRPr lang="en-IN"/>
          </a:p>
        </p:txBody>
      </p:sp>
    </p:spTree>
    <p:extLst>
      <p:ext uri="{BB962C8B-B14F-4D97-AF65-F5344CB8AC3E}">
        <p14:creationId xmlns:p14="http://schemas.microsoft.com/office/powerpoint/2010/main" val="28270495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B6B1A-5C3D-9A0F-6D33-C5C10CE000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9483A4E-0EDD-6220-9108-D472CB1756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E31C95A-464B-BA44-6BBB-CD99C99640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85C4CC-4C38-3CE4-EBDE-F99A89E639F8}"/>
              </a:ext>
            </a:extLst>
          </p:cNvPr>
          <p:cNvSpPr>
            <a:spLocks noGrp="1"/>
          </p:cNvSpPr>
          <p:nvPr>
            <p:ph type="dt" sz="half" idx="10"/>
          </p:nvPr>
        </p:nvSpPr>
        <p:spPr/>
        <p:txBody>
          <a:bodyPr/>
          <a:lstStyle/>
          <a:p>
            <a:fld id="{24F3661A-AEF5-437A-9AAA-BE3548025C0F}" type="datetimeFigureOut">
              <a:rPr lang="en-IN" smtClean="0"/>
              <a:t>26-04-2026</a:t>
            </a:fld>
            <a:endParaRPr lang="en-IN"/>
          </a:p>
        </p:txBody>
      </p:sp>
      <p:sp>
        <p:nvSpPr>
          <p:cNvPr id="6" name="Footer Placeholder 5">
            <a:extLst>
              <a:ext uri="{FF2B5EF4-FFF2-40B4-BE49-F238E27FC236}">
                <a16:creationId xmlns:a16="http://schemas.microsoft.com/office/drawing/2014/main" id="{5F7D4C34-7AEB-FACE-594F-8B8764C2BA4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AF52F77-DBAB-D016-96A3-A149EE666D89}"/>
              </a:ext>
            </a:extLst>
          </p:cNvPr>
          <p:cNvSpPr>
            <a:spLocks noGrp="1"/>
          </p:cNvSpPr>
          <p:nvPr>
            <p:ph type="sldNum" sz="quarter" idx="12"/>
          </p:nvPr>
        </p:nvSpPr>
        <p:spPr/>
        <p:txBody>
          <a:bodyPr/>
          <a:lstStyle/>
          <a:p>
            <a:fld id="{1BFAC212-B252-4475-B960-077E3887FCA4}" type="slidenum">
              <a:rPr lang="en-IN" smtClean="0"/>
              <a:t>‹#›</a:t>
            </a:fld>
            <a:endParaRPr lang="en-IN"/>
          </a:p>
        </p:txBody>
      </p:sp>
    </p:spTree>
    <p:extLst>
      <p:ext uri="{BB962C8B-B14F-4D97-AF65-F5344CB8AC3E}">
        <p14:creationId xmlns:p14="http://schemas.microsoft.com/office/powerpoint/2010/main" val="8590040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7195D-ED57-7226-F680-F9F45CCF61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E2A2812-564C-8D33-C857-D628CDD282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12976C7-350B-D292-B23C-651A31B2BA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292985-2597-A722-0083-D320CF649846}"/>
              </a:ext>
            </a:extLst>
          </p:cNvPr>
          <p:cNvSpPr>
            <a:spLocks noGrp="1"/>
          </p:cNvSpPr>
          <p:nvPr>
            <p:ph type="dt" sz="half" idx="10"/>
          </p:nvPr>
        </p:nvSpPr>
        <p:spPr/>
        <p:txBody>
          <a:bodyPr/>
          <a:lstStyle/>
          <a:p>
            <a:fld id="{24F3661A-AEF5-437A-9AAA-BE3548025C0F}" type="datetimeFigureOut">
              <a:rPr lang="en-IN" smtClean="0"/>
              <a:t>26-04-2026</a:t>
            </a:fld>
            <a:endParaRPr lang="en-IN"/>
          </a:p>
        </p:txBody>
      </p:sp>
      <p:sp>
        <p:nvSpPr>
          <p:cNvPr id="6" name="Footer Placeholder 5">
            <a:extLst>
              <a:ext uri="{FF2B5EF4-FFF2-40B4-BE49-F238E27FC236}">
                <a16:creationId xmlns:a16="http://schemas.microsoft.com/office/drawing/2014/main" id="{E142E01D-BD3F-CFE6-7D29-D959C257C8E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1C16907-9EC4-6CF9-E0E0-C7883CF8AE4D}"/>
              </a:ext>
            </a:extLst>
          </p:cNvPr>
          <p:cNvSpPr>
            <a:spLocks noGrp="1"/>
          </p:cNvSpPr>
          <p:nvPr>
            <p:ph type="sldNum" sz="quarter" idx="12"/>
          </p:nvPr>
        </p:nvSpPr>
        <p:spPr/>
        <p:txBody>
          <a:bodyPr/>
          <a:lstStyle/>
          <a:p>
            <a:fld id="{1BFAC212-B252-4475-B960-077E3887FCA4}" type="slidenum">
              <a:rPr lang="en-IN" smtClean="0"/>
              <a:t>‹#›</a:t>
            </a:fld>
            <a:endParaRPr lang="en-IN"/>
          </a:p>
        </p:txBody>
      </p:sp>
    </p:spTree>
    <p:extLst>
      <p:ext uri="{BB962C8B-B14F-4D97-AF65-F5344CB8AC3E}">
        <p14:creationId xmlns:p14="http://schemas.microsoft.com/office/powerpoint/2010/main" val="41553616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559DF-9A4F-8DCB-CA24-883C6A99A25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E0DF277-3885-5B24-0393-7D907ECE7B1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E4A9C9-81A6-8A67-95FF-C9B89E0172DC}"/>
              </a:ext>
            </a:extLst>
          </p:cNvPr>
          <p:cNvSpPr>
            <a:spLocks noGrp="1"/>
          </p:cNvSpPr>
          <p:nvPr>
            <p:ph type="dt" sz="half" idx="10"/>
          </p:nvPr>
        </p:nvSpPr>
        <p:spPr/>
        <p:txBody>
          <a:bodyPr/>
          <a:lstStyle/>
          <a:p>
            <a:fld id="{24F3661A-AEF5-437A-9AAA-BE3548025C0F}" type="datetimeFigureOut">
              <a:rPr lang="en-IN" smtClean="0"/>
              <a:t>26-04-2026</a:t>
            </a:fld>
            <a:endParaRPr lang="en-IN"/>
          </a:p>
        </p:txBody>
      </p:sp>
      <p:sp>
        <p:nvSpPr>
          <p:cNvPr id="5" name="Footer Placeholder 4">
            <a:extLst>
              <a:ext uri="{FF2B5EF4-FFF2-40B4-BE49-F238E27FC236}">
                <a16:creationId xmlns:a16="http://schemas.microsoft.com/office/drawing/2014/main" id="{5039C2C3-FB74-5CB4-4439-2E09AB3458C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194A242-431A-20FB-6682-357D170DACF7}"/>
              </a:ext>
            </a:extLst>
          </p:cNvPr>
          <p:cNvSpPr>
            <a:spLocks noGrp="1"/>
          </p:cNvSpPr>
          <p:nvPr>
            <p:ph type="sldNum" sz="quarter" idx="12"/>
          </p:nvPr>
        </p:nvSpPr>
        <p:spPr/>
        <p:txBody>
          <a:bodyPr/>
          <a:lstStyle/>
          <a:p>
            <a:fld id="{1BFAC212-B252-4475-B960-077E3887FCA4}" type="slidenum">
              <a:rPr lang="en-IN" smtClean="0"/>
              <a:t>‹#›</a:t>
            </a:fld>
            <a:endParaRPr lang="en-IN"/>
          </a:p>
        </p:txBody>
      </p:sp>
    </p:spTree>
    <p:extLst>
      <p:ext uri="{BB962C8B-B14F-4D97-AF65-F5344CB8AC3E}">
        <p14:creationId xmlns:p14="http://schemas.microsoft.com/office/powerpoint/2010/main" val="25174100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1E608D-32FA-64D7-6803-4180625CC61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B3826F9-3C52-CAD1-EA2C-FCA487D67A2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1D4B86-D79F-6041-F23A-C31B911A4984}"/>
              </a:ext>
            </a:extLst>
          </p:cNvPr>
          <p:cNvSpPr>
            <a:spLocks noGrp="1"/>
          </p:cNvSpPr>
          <p:nvPr>
            <p:ph type="dt" sz="half" idx="10"/>
          </p:nvPr>
        </p:nvSpPr>
        <p:spPr/>
        <p:txBody>
          <a:bodyPr/>
          <a:lstStyle/>
          <a:p>
            <a:fld id="{24F3661A-AEF5-437A-9AAA-BE3548025C0F}" type="datetimeFigureOut">
              <a:rPr lang="en-IN" smtClean="0"/>
              <a:t>26-04-2026</a:t>
            </a:fld>
            <a:endParaRPr lang="en-IN"/>
          </a:p>
        </p:txBody>
      </p:sp>
      <p:sp>
        <p:nvSpPr>
          <p:cNvPr id="5" name="Footer Placeholder 4">
            <a:extLst>
              <a:ext uri="{FF2B5EF4-FFF2-40B4-BE49-F238E27FC236}">
                <a16:creationId xmlns:a16="http://schemas.microsoft.com/office/drawing/2014/main" id="{E248FE6F-F5D6-8ECE-5124-ADE13D2B4C1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7E7F05-C5D5-12DC-F448-C496FE13F07E}"/>
              </a:ext>
            </a:extLst>
          </p:cNvPr>
          <p:cNvSpPr>
            <a:spLocks noGrp="1"/>
          </p:cNvSpPr>
          <p:nvPr>
            <p:ph type="sldNum" sz="quarter" idx="12"/>
          </p:nvPr>
        </p:nvSpPr>
        <p:spPr/>
        <p:txBody>
          <a:bodyPr/>
          <a:lstStyle/>
          <a:p>
            <a:fld id="{1BFAC212-B252-4475-B960-077E3887FCA4}" type="slidenum">
              <a:rPr lang="en-IN" smtClean="0"/>
              <a:t>‹#›</a:t>
            </a:fld>
            <a:endParaRPr lang="en-IN"/>
          </a:p>
        </p:txBody>
      </p:sp>
    </p:spTree>
    <p:extLst>
      <p:ext uri="{BB962C8B-B14F-4D97-AF65-F5344CB8AC3E}">
        <p14:creationId xmlns:p14="http://schemas.microsoft.com/office/powerpoint/2010/main" val="22146444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AC52068-3735-2C1B-7E93-D19E09CE530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49D899F-C27D-A460-F206-9F0DA24BE9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6CAE654-85C0-9395-6F93-96A0AFEF4C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4F3661A-AEF5-437A-9AAA-BE3548025C0F}" type="datetimeFigureOut">
              <a:rPr lang="en-IN" smtClean="0"/>
              <a:t>26-04-2026</a:t>
            </a:fld>
            <a:endParaRPr lang="en-IN"/>
          </a:p>
        </p:txBody>
      </p:sp>
      <p:sp>
        <p:nvSpPr>
          <p:cNvPr id="5" name="Footer Placeholder 4">
            <a:extLst>
              <a:ext uri="{FF2B5EF4-FFF2-40B4-BE49-F238E27FC236}">
                <a16:creationId xmlns:a16="http://schemas.microsoft.com/office/drawing/2014/main" id="{D5E94419-1C66-6C21-5B3F-8055F3F778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7EE0A392-86C4-DD7F-E410-43C81B36F7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BFAC212-B252-4475-B960-077E3887FCA4}" type="slidenum">
              <a:rPr lang="en-IN" smtClean="0"/>
              <a:t>‹#›</a:t>
            </a:fld>
            <a:endParaRPr lang="en-IN"/>
          </a:p>
        </p:txBody>
      </p:sp>
    </p:spTree>
    <p:extLst>
      <p:ext uri="{BB962C8B-B14F-4D97-AF65-F5344CB8AC3E}">
        <p14:creationId xmlns:p14="http://schemas.microsoft.com/office/powerpoint/2010/main" val="36269557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0E0E0"/>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E26F560-9794-1003-739D-2D378C7F2DE7}"/>
              </a:ext>
            </a:extLst>
          </p:cNvPr>
          <p:cNvSpPr txBox="1"/>
          <p:nvPr/>
        </p:nvSpPr>
        <p:spPr>
          <a:xfrm>
            <a:off x="1684362" y="1360762"/>
            <a:ext cx="8470940" cy="2215991"/>
          </a:xfrm>
          <a:prstGeom prst="rect">
            <a:avLst/>
          </a:prstGeom>
          <a:noFill/>
        </p:spPr>
        <p:txBody>
          <a:bodyPr wrap="square">
            <a:spAutoFit/>
          </a:bodyPr>
          <a:lstStyle/>
          <a:p>
            <a:pPr algn="ctr"/>
            <a:r>
              <a:rPr lang="en-US" sz="13800" dirty="0" err="1">
                <a:latin typeface="+mj-lt"/>
              </a:rPr>
              <a:t>Fusion</a:t>
            </a:r>
            <a:r>
              <a:rPr lang="en-US" sz="13800" dirty="0" err="1">
                <a:solidFill>
                  <a:srgbClr val="156082"/>
                </a:solidFill>
                <a:latin typeface="+mj-lt"/>
              </a:rPr>
              <a:t>Ops</a:t>
            </a:r>
            <a:endParaRPr lang="en-IN" sz="13800" dirty="0">
              <a:solidFill>
                <a:srgbClr val="156082"/>
              </a:solidFill>
              <a:latin typeface="+mj-lt"/>
            </a:endParaRPr>
          </a:p>
        </p:txBody>
      </p:sp>
      <p:sp>
        <p:nvSpPr>
          <p:cNvPr id="8" name="TextBox 7">
            <a:extLst>
              <a:ext uri="{FF2B5EF4-FFF2-40B4-BE49-F238E27FC236}">
                <a16:creationId xmlns:a16="http://schemas.microsoft.com/office/drawing/2014/main" id="{A555C3A9-3B0E-D0DF-C191-CD2646B95418}"/>
              </a:ext>
            </a:extLst>
          </p:cNvPr>
          <p:cNvSpPr txBox="1"/>
          <p:nvPr/>
        </p:nvSpPr>
        <p:spPr>
          <a:xfrm>
            <a:off x="2870976" y="3315143"/>
            <a:ext cx="6097712" cy="523220"/>
          </a:xfrm>
          <a:prstGeom prst="rect">
            <a:avLst/>
          </a:prstGeom>
          <a:noFill/>
        </p:spPr>
        <p:txBody>
          <a:bodyPr wrap="square">
            <a:spAutoFit/>
          </a:bodyPr>
          <a:lstStyle/>
          <a:p>
            <a:pPr algn="ctr"/>
            <a:r>
              <a:rPr lang="en-IN" sz="2800" b="1" dirty="0"/>
              <a:t>compiler-level operation scheduling</a:t>
            </a:r>
            <a:endParaRPr lang="en-IN" sz="2800" dirty="0"/>
          </a:p>
        </p:txBody>
      </p:sp>
      <p:sp>
        <p:nvSpPr>
          <p:cNvPr id="2" name="TextBox 1">
            <a:extLst>
              <a:ext uri="{FF2B5EF4-FFF2-40B4-BE49-F238E27FC236}">
                <a16:creationId xmlns:a16="http://schemas.microsoft.com/office/drawing/2014/main" id="{C9B32B6B-4948-0922-CC2B-BA3B8E0ED4C2}"/>
              </a:ext>
            </a:extLst>
          </p:cNvPr>
          <p:cNvSpPr txBox="1"/>
          <p:nvPr/>
        </p:nvSpPr>
        <p:spPr>
          <a:xfrm>
            <a:off x="487756" y="4812668"/>
            <a:ext cx="2944781" cy="707886"/>
          </a:xfrm>
          <a:prstGeom prst="rect">
            <a:avLst/>
          </a:prstGeom>
          <a:noFill/>
        </p:spPr>
        <p:txBody>
          <a:bodyPr wrap="none" rtlCol="0">
            <a:spAutoFit/>
          </a:bodyPr>
          <a:lstStyle/>
          <a:p>
            <a:r>
              <a:rPr lang="en-US" sz="4000" dirty="0">
                <a:latin typeface="Arial Rounded MT Bold" panose="020F0704030504030204" pitchFamily="34" charset="0"/>
              </a:rPr>
              <a:t>Team </a:t>
            </a:r>
            <a:r>
              <a:rPr lang="en-US" sz="4000" dirty="0">
                <a:solidFill>
                  <a:srgbClr val="156082"/>
                </a:solidFill>
                <a:latin typeface="Arial Rounded MT Bold" panose="020F0704030504030204" pitchFamily="34" charset="0"/>
              </a:rPr>
              <a:t>Pluto</a:t>
            </a:r>
            <a:endParaRPr lang="en-IN" sz="4000" dirty="0">
              <a:solidFill>
                <a:srgbClr val="156082"/>
              </a:solidFill>
              <a:latin typeface="Arial Rounded MT Bold" panose="020F0704030504030204" pitchFamily="34" charset="0"/>
            </a:endParaRPr>
          </a:p>
        </p:txBody>
      </p:sp>
      <p:sp>
        <p:nvSpPr>
          <p:cNvPr id="3" name="TextBox 2">
            <a:extLst>
              <a:ext uri="{FF2B5EF4-FFF2-40B4-BE49-F238E27FC236}">
                <a16:creationId xmlns:a16="http://schemas.microsoft.com/office/drawing/2014/main" id="{0C4E3F5E-3844-C376-DC5C-E21E58464704}"/>
              </a:ext>
            </a:extLst>
          </p:cNvPr>
          <p:cNvSpPr txBox="1"/>
          <p:nvPr/>
        </p:nvSpPr>
        <p:spPr>
          <a:xfrm>
            <a:off x="654341" y="5612887"/>
            <a:ext cx="2611612" cy="523220"/>
          </a:xfrm>
          <a:prstGeom prst="rect">
            <a:avLst/>
          </a:prstGeom>
          <a:noFill/>
        </p:spPr>
        <p:txBody>
          <a:bodyPr wrap="none" rtlCol="0">
            <a:spAutoFit/>
          </a:bodyPr>
          <a:lstStyle/>
          <a:p>
            <a:r>
              <a:rPr lang="en-US" sz="2800" dirty="0"/>
              <a:t>Anshul </a:t>
            </a:r>
            <a:r>
              <a:rPr lang="en-US" sz="2800" dirty="0" err="1"/>
              <a:t>Badhani</a:t>
            </a:r>
            <a:endParaRPr lang="en-IN" sz="2800" dirty="0"/>
          </a:p>
        </p:txBody>
      </p:sp>
      <p:sp>
        <p:nvSpPr>
          <p:cNvPr id="4" name="TextBox 3">
            <a:extLst>
              <a:ext uri="{FF2B5EF4-FFF2-40B4-BE49-F238E27FC236}">
                <a16:creationId xmlns:a16="http://schemas.microsoft.com/office/drawing/2014/main" id="{01F0379D-D687-CBEF-52D6-63E887D41C4D}"/>
              </a:ext>
            </a:extLst>
          </p:cNvPr>
          <p:cNvSpPr txBox="1"/>
          <p:nvPr/>
        </p:nvSpPr>
        <p:spPr>
          <a:xfrm>
            <a:off x="654341" y="6136107"/>
            <a:ext cx="1889941" cy="523220"/>
          </a:xfrm>
          <a:prstGeom prst="rect">
            <a:avLst/>
          </a:prstGeom>
          <a:noFill/>
        </p:spPr>
        <p:txBody>
          <a:bodyPr wrap="none" rtlCol="0">
            <a:spAutoFit/>
          </a:bodyPr>
          <a:lstStyle/>
          <a:p>
            <a:r>
              <a:rPr lang="en-US" sz="2800" dirty="0"/>
              <a:t>Anisha Roy</a:t>
            </a:r>
            <a:endParaRPr lang="en-IN" sz="2800" dirty="0"/>
          </a:p>
        </p:txBody>
      </p:sp>
    </p:spTree>
    <p:extLst>
      <p:ext uri="{BB962C8B-B14F-4D97-AF65-F5344CB8AC3E}">
        <p14:creationId xmlns:p14="http://schemas.microsoft.com/office/powerpoint/2010/main" val="37630723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0E0E0"/>
        </a:solidFill>
        <a:effectLst/>
      </p:bgPr>
    </p:bg>
    <p:spTree>
      <p:nvGrpSpPr>
        <p:cNvPr id="1" name="">
          <a:extLst>
            <a:ext uri="{FF2B5EF4-FFF2-40B4-BE49-F238E27FC236}">
              <a16:creationId xmlns:a16="http://schemas.microsoft.com/office/drawing/2014/main" id="{5379CBE2-00C8-CCDB-94A3-0C33BCD3C7B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B8C1BAF-FB2B-B426-2E34-95E1AB7E930E}"/>
              </a:ext>
            </a:extLst>
          </p:cNvPr>
          <p:cNvSpPr txBox="1"/>
          <p:nvPr/>
        </p:nvSpPr>
        <p:spPr>
          <a:xfrm>
            <a:off x="195742" y="1711117"/>
            <a:ext cx="11800514" cy="1384995"/>
          </a:xfrm>
          <a:prstGeom prst="rect">
            <a:avLst/>
          </a:prstGeom>
          <a:noFill/>
        </p:spPr>
        <p:txBody>
          <a:bodyPr wrap="square" rtlCol="0">
            <a:spAutoFit/>
          </a:bodyPr>
          <a:lstStyle/>
          <a:p>
            <a:r>
              <a:rPr lang="en-US" sz="2800" dirty="0">
                <a:latin typeface="Arial Rounded MT Bold" panose="020F0704030504030204" pitchFamily="34" charset="0"/>
              </a:rPr>
              <a:t>Executing massive computational graphs on memory-constrained hardware is one of the fundamental challenges in high performance computing. </a:t>
            </a:r>
            <a:endParaRPr lang="en-IN" sz="2800" dirty="0">
              <a:latin typeface="Arial Rounded MT Bold" panose="020F0704030504030204" pitchFamily="34" charset="0"/>
            </a:endParaRPr>
          </a:p>
        </p:txBody>
      </p:sp>
      <p:sp>
        <p:nvSpPr>
          <p:cNvPr id="4" name="TextBox 3">
            <a:extLst>
              <a:ext uri="{FF2B5EF4-FFF2-40B4-BE49-F238E27FC236}">
                <a16:creationId xmlns:a16="http://schemas.microsoft.com/office/drawing/2014/main" id="{1ECAA60A-8BF4-BDCE-E59C-83BD3AA10F01}"/>
              </a:ext>
            </a:extLst>
          </p:cNvPr>
          <p:cNvSpPr txBox="1"/>
          <p:nvPr/>
        </p:nvSpPr>
        <p:spPr>
          <a:xfrm>
            <a:off x="313188" y="3429000"/>
            <a:ext cx="11565622" cy="954107"/>
          </a:xfrm>
          <a:prstGeom prst="rect">
            <a:avLst/>
          </a:prstGeom>
          <a:noFill/>
        </p:spPr>
        <p:txBody>
          <a:bodyPr wrap="square" rtlCol="0">
            <a:spAutoFit/>
          </a:bodyPr>
          <a:lstStyle/>
          <a:p>
            <a:r>
              <a:rPr lang="en-US" sz="2800" dirty="0">
                <a:latin typeface="Arial Rounded MT Bold" panose="020F0704030504030204" pitchFamily="34" charset="0"/>
              </a:rPr>
              <a:t>When tensors outsize fast memory by orders of magnitude, data movement becomes the bottleneck.</a:t>
            </a:r>
            <a:endParaRPr lang="en-IN" sz="2800" dirty="0">
              <a:latin typeface="Arial Rounded MT Bold" panose="020F0704030504030204" pitchFamily="34" charset="0"/>
            </a:endParaRPr>
          </a:p>
        </p:txBody>
      </p:sp>
    </p:spTree>
    <p:extLst>
      <p:ext uri="{BB962C8B-B14F-4D97-AF65-F5344CB8AC3E}">
        <p14:creationId xmlns:p14="http://schemas.microsoft.com/office/powerpoint/2010/main" val="4031485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0E0E0"/>
        </a:solidFill>
        <a:effectLst/>
      </p:bgPr>
    </p:bg>
    <p:spTree>
      <p:nvGrpSpPr>
        <p:cNvPr id="1" name="">
          <a:extLst>
            <a:ext uri="{FF2B5EF4-FFF2-40B4-BE49-F238E27FC236}">
              <a16:creationId xmlns:a16="http://schemas.microsoft.com/office/drawing/2014/main" id="{D27F076A-0188-E9E7-6291-45F67A63368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99021DD-9D82-2FE4-9916-0C173FBA47E9}"/>
              </a:ext>
            </a:extLst>
          </p:cNvPr>
          <p:cNvSpPr txBox="1"/>
          <p:nvPr/>
        </p:nvSpPr>
        <p:spPr>
          <a:xfrm>
            <a:off x="1099799" y="2766766"/>
            <a:ext cx="11173295" cy="1754326"/>
          </a:xfrm>
          <a:prstGeom prst="rect">
            <a:avLst/>
          </a:prstGeom>
          <a:noFill/>
        </p:spPr>
        <p:txBody>
          <a:bodyPr wrap="square" rtlCol="0">
            <a:spAutoFit/>
          </a:bodyPr>
          <a:lstStyle/>
          <a:p>
            <a:r>
              <a:rPr lang="en-US" sz="3600" dirty="0">
                <a:solidFill>
                  <a:srgbClr val="156082"/>
                </a:solidFill>
                <a:latin typeface="Arial Rounded MT Bold" panose="020F0704030504030204" pitchFamily="34" charset="0"/>
                <a:cs typeface="Arial" panose="020B0604020202020204" pitchFamily="34" charset="0"/>
              </a:rPr>
              <a:t>Can an LLM that is placed inside an execution environment, trained via RL discover fusion and scheduling strategies through exploration ?</a:t>
            </a:r>
            <a:endParaRPr lang="en-IN" sz="3600" dirty="0">
              <a:solidFill>
                <a:srgbClr val="156082"/>
              </a:solidFill>
              <a:latin typeface="Arial Rounded MT Bold" panose="020F07040305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FBCD65CF-8C4C-BB44-F831-CC1D3170C83D}"/>
              </a:ext>
            </a:extLst>
          </p:cNvPr>
          <p:cNvSpPr txBox="1"/>
          <p:nvPr/>
        </p:nvSpPr>
        <p:spPr>
          <a:xfrm>
            <a:off x="506308" y="1159849"/>
            <a:ext cx="8394411" cy="1015663"/>
          </a:xfrm>
          <a:prstGeom prst="rect">
            <a:avLst/>
          </a:prstGeom>
          <a:noFill/>
        </p:spPr>
        <p:txBody>
          <a:bodyPr wrap="square" rtlCol="0">
            <a:spAutoFit/>
          </a:bodyPr>
          <a:lstStyle/>
          <a:p>
            <a:r>
              <a:rPr lang="en-US" sz="6000" dirty="0">
                <a:latin typeface="Arial Black" panose="020B0A04020102020204" pitchFamily="34" charset="0"/>
              </a:rPr>
              <a:t>Our Hypothesis…</a:t>
            </a:r>
            <a:endParaRPr lang="en-IN" sz="6000" dirty="0">
              <a:latin typeface="Arial Black" panose="020B0A04020102020204" pitchFamily="34" charset="0"/>
            </a:endParaRPr>
          </a:p>
        </p:txBody>
      </p:sp>
    </p:spTree>
    <p:extLst>
      <p:ext uri="{BB962C8B-B14F-4D97-AF65-F5344CB8AC3E}">
        <p14:creationId xmlns:p14="http://schemas.microsoft.com/office/powerpoint/2010/main" val="6790319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0E0E0"/>
        </a:solidFill>
        <a:effectLst/>
      </p:bgPr>
    </p:bg>
    <p:spTree>
      <p:nvGrpSpPr>
        <p:cNvPr id="1" name="">
          <a:extLst>
            <a:ext uri="{FF2B5EF4-FFF2-40B4-BE49-F238E27FC236}">
              <a16:creationId xmlns:a16="http://schemas.microsoft.com/office/drawing/2014/main" id="{04EBDBD0-E6A0-C6A9-91DE-5E329FA7C57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3573C6-CD22-FF14-17E5-CEAFF613EA28}"/>
              </a:ext>
            </a:extLst>
          </p:cNvPr>
          <p:cNvSpPr txBox="1"/>
          <p:nvPr/>
        </p:nvSpPr>
        <p:spPr>
          <a:xfrm>
            <a:off x="740305" y="1855411"/>
            <a:ext cx="10529298" cy="2677656"/>
          </a:xfrm>
          <a:prstGeom prst="rect">
            <a:avLst/>
          </a:prstGeom>
          <a:noFill/>
        </p:spPr>
        <p:txBody>
          <a:bodyPr wrap="square" rtlCol="0">
            <a:spAutoFit/>
          </a:bodyPr>
          <a:lstStyle/>
          <a:p>
            <a:r>
              <a:rPr lang="en-US" sz="2800" dirty="0">
                <a:solidFill>
                  <a:srgbClr val="156082"/>
                </a:solidFill>
                <a:latin typeface="Arial Rounded MT Bold" panose="020F0704030504030204" pitchFamily="34" charset="0"/>
              </a:rPr>
              <a:t>RL environment and trained on four computation graph tasks: </a:t>
            </a:r>
          </a:p>
          <a:p>
            <a:pPr marL="571500" indent="-571500">
              <a:buFont typeface="Arial" panose="020B0604020202020204" pitchFamily="34" charset="0"/>
              <a:buChar char="•"/>
            </a:pPr>
            <a:r>
              <a:rPr lang="en-US" sz="2800" dirty="0">
                <a:solidFill>
                  <a:srgbClr val="156082"/>
                </a:solidFill>
                <a:latin typeface="Arial Rounded MT Bold" panose="020F0704030504030204" pitchFamily="34" charset="0"/>
              </a:rPr>
              <a:t>Linear Chain</a:t>
            </a:r>
          </a:p>
          <a:p>
            <a:pPr marL="571500" indent="-571500">
              <a:buFont typeface="Arial" panose="020B0604020202020204" pitchFamily="34" charset="0"/>
              <a:buChar char="•"/>
            </a:pPr>
            <a:r>
              <a:rPr lang="en-US" sz="2800" dirty="0">
                <a:solidFill>
                  <a:srgbClr val="156082"/>
                </a:solidFill>
                <a:latin typeface="Arial Rounded MT Bold" panose="020F0704030504030204" pitchFamily="34" charset="0"/>
              </a:rPr>
              <a:t>Diamond Graph</a:t>
            </a:r>
          </a:p>
          <a:p>
            <a:pPr marL="571500" indent="-571500">
              <a:buFont typeface="Arial" panose="020B0604020202020204" pitchFamily="34" charset="0"/>
              <a:buChar char="•"/>
            </a:pPr>
            <a:r>
              <a:rPr lang="en-US" sz="2800" dirty="0" err="1">
                <a:solidFill>
                  <a:srgbClr val="156082"/>
                </a:solidFill>
                <a:latin typeface="Arial Rounded MT Bold" panose="020F0704030504030204" pitchFamily="34" charset="0"/>
              </a:rPr>
              <a:t>MatMul</a:t>
            </a:r>
            <a:endParaRPr lang="en-US" sz="2800" dirty="0">
              <a:solidFill>
                <a:srgbClr val="156082"/>
              </a:solidFill>
              <a:latin typeface="Arial Rounded MT Bold" panose="020F0704030504030204" pitchFamily="34" charset="0"/>
            </a:endParaRPr>
          </a:p>
          <a:p>
            <a:pPr marL="571500" indent="-571500">
              <a:buFont typeface="Arial" panose="020B0604020202020204" pitchFamily="34" charset="0"/>
              <a:buChar char="•"/>
            </a:pPr>
            <a:r>
              <a:rPr lang="en-US" sz="2800" dirty="0">
                <a:solidFill>
                  <a:srgbClr val="156082"/>
                </a:solidFill>
                <a:latin typeface="Arial Rounded MT Bold" panose="020F0704030504030204" pitchFamily="34" charset="0"/>
              </a:rPr>
              <a:t>K-split</a:t>
            </a:r>
            <a:endParaRPr lang="en-IN" sz="2800" dirty="0">
              <a:solidFill>
                <a:srgbClr val="156082"/>
              </a:solidFill>
              <a:latin typeface="Arial Rounded MT Bold" panose="020F0704030504030204" pitchFamily="34" charset="0"/>
            </a:endParaRPr>
          </a:p>
        </p:txBody>
      </p:sp>
      <p:sp>
        <p:nvSpPr>
          <p:cNvPr id="3" name="TextBox 2">
            <a:extLst>
              <a:ext uri="{FF2B5EF4-FFF2-40B4-BE49-F238E27FC236}">
                <a16:creationId xmlns:a16="http://schemas.microsoft.com/office/drawing/2014/main" id="{1710F6CB-2E89-F441-9199-11B9D886590A}"/>
              </a:ext>
            </a:extLst>
          </p:cNvPr>
          <p:cNvSpPr txBox="1"/>
          <p:nvPr/>
        </p:nvSpPr>
        <p:spPr>
          <a:xfrm>
            <a:off x="323636" y="380144"/>
            <a:ext cx="9066945" cy="1015663"/>
          </a:xfrm>
          <a:prstGeom prst="rect">
            <a:avLst/>
          </a:prstGeom>
          <a:noFill/>
        </p:spPr>
        <p:txBody>
          <a:bodyPr wrap="square" rtlCol="0">
            <a:spAutoFit/>
          </a:bodyPr>
          <a:lstStyle/>
          <a:p>
            <a:r>
              <a:rPr lang="en-US" sz="6000" dirty="0">
                <a:latin typeface="Arial Black" panose="020B0A04020102020204" pitchFamily="34" charset="0"/>
              </a:rPr>
              <a:t>v1: Without Hints</a:t>
            </a:r>
            <a:endParaRPr lang="en-IN" sz="6000" dirty="0">
              <a:latin typeface="Arial Black" panose="020B0A04020102020204" pitchFamily="34" charset="0"/>
            </a:endParaRPr>
          </a:p>
        </p:txBody>
      </p:sp>
      <p:sp>
        <p:nvSpPr>
          <p:cNvPr id="4" name="TextBox 3">
            <a:extLst>
              <a:ext uri="{FF2B5EF4-FFF2-40B4-BE49-F238E27FC236}">
                <a16:creationId xmlns:a16="http://schemas.microsoft.com/office/drawing/2014/main" id="{2A79EAD2-1B43-3941-4676-D0FD4BD00457}"/>
              </a:ext>
            </a:extLst>
          </p:cNvPr>
          <p:cNvSpPr txBox="1"/>
          <p:nvPr/>
        </p:nvSpPr>
        <p:spPr>
          <a:xfrm>
            <a:off x="459817" y="4992671"/>
            <a:ext cx="12182394" cy="1384995"/>
          </a:xfrm>
          <a:prstGeom prst="rect">
            <a:avLst/>
          </a:prstGeom>
          <a:noFill/>
        </p:spPr>
        <p:txBody>
          <a:bodyPr wrap="square" rtlCol="0">
            <a:spAutoFit/>
          </a:bodyPr>
          <a:lstStyle/>
          <a:p>
            <a:r>
              <a:rPr lang="en-US" sz="2800" dirty="0">
                <a:latin typeface="Bahnschrift" panose="020B0502040204020203" pitchFamily="34" charset="0"/>
              </a:rPr>
              <a:t>What we concluded after training was that, without any hints the LLM wasn’t able to figure out what was the optimal way to schedule the operations.</a:t>
            </a:r>
            <a:endParaRPr lang="en-IN" sz="2800" dirty="0">
              <a:latin typeface="Bahnschrift" panose="020B0502040204020203" pitchFamily="34" charset="0"/>
            </a:endParaRPr>
          </a:p>
        </p:txBody>
      </p:sp>
    </p:spTree>
    <p:extLst>
      <p:ext uri="{BB962C8B-B14F-4D97-AF65-F5344CB8AC3E}">
        <p14:creationId xmlns:p14="http://schemas.microsoft.com/office/powerpoint/2010/main" val="10087557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0E0E0"/>
        </a:solidFill>
        <a:effectLst/>
      </p:bgPr>
    </p:bg>
    <p:spTree>
      <p:nvGrpSpPr>
        <p:cNvPr id="1" name="">
          <a:extLst>
            <a:ext uri="{FF2B5EF4-FFF2-40B4-BE49-F238E27FC236}">
              <a16:creationId xmlns:a16="http://schemas.microsoft.com/office/drawing/2014/main" id="{20AB93DA-5283-4783-0DB2-82BAC80FAF7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77AA480-7D0C-9E88-65EA-ECAAB7D8714E}"/>
              </a:ext>
            </a:extLst>
          </p:cNvPr>
          <p:cNvSpPr txBox="1"/>
          <p:nvPr/>
        </p:nvSpPr>
        <p:spPr>
          <a:xfrm>
            <a:off x="468443" y="5320474"/>
            <a:ext cx="12182394" cy="1384995"/>
          </a:xfrm>
          <a:prstGeom prst="rect">
            <a:avLst/>
          </a:prstGeom>
          <a:noFill/>
        </p:spPr>
        <p:txBody>
          <a:bodyPr wrap="square" rtlCol="0">
            <a:spAutoFit/>
          </a:bodyPr>
          <a:lstStyle/>
          <a:p>
            <a:r>
              <a:rPr lang="en-US" sz="2800" dirty="0">
                <a:latin typeface="Bahnschrift" panose="020B0502040204020203" pitchFamily="34" charset="0"/>
              </a:rPr>
              <a:t>What we concluded after training was that, without any hints the LLM wasn’t able to figure out what was the optimal way to schedule the operations.</a:t>
            </a:r>
            <a:endParaRPr lang="en-IN" sz="2800" dirty="0">
              <a:latin typeface="Bahnschrift" panose="020B0502040204020203" pitchFamily="34" charset="0"/>
            </a:endParaRPr>
          </a:p>
        </p:txBody>
      </p:sp>
      <p:pic>
        <p:nvPicPr>
          <p:cNvPr id="6" name="Picture 5">
            <a:extLst>
              <a:ext uri="{FF2B5EF4-FFF2-40B4-BE49-F238E27FC236}">
                <a16:creationId xmlns:a16="http://schemas.microsoft.com/office/drawing/2014/main" id="{4F70F990-98C2-BCC6-8D20-E6E1D6D409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1797" y="306237"/>
            <a:ext cx="9608406" cy="4992671"/>
          </a:xfrm>
          <a:prstGeom prst="rect">
            <a:avLst/>
          </a:prstGeom>
        </p:spPr>
      </p:pic>
    </p:spTree>
    <p:extLst>
      <p:ext uri="{BB962C8B-B14F-4D97-AF65-F5344CB8AC3E}">
        <p14:creationId xmlns:p14="http://schemas.microsoft.com/office/powerpoint/2010/main" val="16272787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0E0E0"/>
        </a:solidFill>
        <a:effectLst/>
      </p:bgPr>
    </p:bg>
    <p:spTree>
      <p:nvGrpSpPr>
        <p:cNvPr id="1" name="">
          <a:extLst>
            <a:ext uri="{FF2B5EF4-FFF2-40B4-BE49-F238E27FC236}">
              <a16:creationId xmlns:a16="http://schemas.microsoft.com/office/drawing/2014/main" id="{22D77243-0329-9150-6EB7-68BF62457F2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ABE0F1E-4915-D5AB-130F-87C28A0BAEFC}"/>
              </a:ext>
            </a:extLst>
          </p:cNvPr>
          <p:cNvSpPr txBox="1"/>
          <p:nvPr/>
        </p:nvSpPr>
        <p:spPr>
          <a:xfrm>
            <a:off x="340947" y="1859340"/>
            <a:ext cx="11597120" cy="1569660"/>
          </a:xfrm>
          <a:prstGeom prst="rect">
            <a:avLst/>
          </a:prstGeom>
          <a:noFill/>
        </p:spPr>
        <p:txBody>
          <a:bodyPr wrap="square" rtlCol="0">
            <a:spAutoFit/>
          </a:bodyPr>
          <a:lstStyle/>
          <a:p>
            <a:r>
              <a:rPr lang="en-US" sz="3200" dirty="0">
                <a:solidFill>
                  <a:srgbClr val="156082"/>
                </a:solidFill>
                <a:latin typeface="Arial Rounded MT Bold" panose="020F0704030504030204" pitchFamily="34" charset="0"/>
              </a:rPr>
              <a:t>Hints were introduced as a strong prior in the reward function, high weight early, progressively discounted as training advanced. </a:t>
            </a:r>
            <a:endParaRPr lang="en-IN" sz="3200" dirty="0">
              <a:solidFill>
                <a:srgbClr val="156082"/>
              </a:solidFill>
              <a:latin typeface="Arial Rounded MT Bold" panose="020F0704030504030204" pitchFamily="34" charset="0"/>
            </a:endParaRPr>
          </a:p>
        </p:txBody>
      </p:sp>
      <p:sp>
        <p:nvSpPr>
          <p:cNvPr id="3" name="TextBox 2">
            <a:extLst>
              <a:ext uri="{FF2B5EF4-FFF2-40B4-BE49-F238E27FC236}">
                <a16:creationId xmlns:a16="http://schemas.microsoft.com/office/drawing/2014/main" id="{1E87CE99-FB24-0C85-B806-9B736394B3A5}"/>
              </a:ext>
            </a:extLst>
          </p:cNvPr>
          <p:cNvSpPr txBox="1"/>
          <p:nvPr/>
        </p:nvSpPr>
        <p:spPr>
          <a:xfrm>
            <a:off x="340947" y="308836"/>
            <a:ext cx="6538559" cy="1015663"/>
          </a:xfrm>
          <a:prstGeom prst="rect">
            <a:avLst/>
          </a:prstGeom>
          <a:noFill/>
        </p:spPr>
        <p:txBody>
          <a:bodyPr wrap="square" rtlCol="0">
            <a:spAutoFit/>
          </a:bodyPr>
          <a:lstStyle/>
          <a:p>
            <a:r>
              <a:rPr lang="en-US" sz="6000" dirty="0">
                <a:latin typeface="Arial Black" panose="020B0A04020102020204" pitchFamily="34" charset="0"/>
              </a:rPr>
              <a:t>v2: With Hints</a:t>
            </a:r>
            <a:endParaRPr lang="en-IN" sz="6000" dirty="0">
              <a:latin typeface="Arial Black" panose="020B0A04020102020204" pitchFamily="34" charset="0"/>
            </a:endParaRPr>
          </a:p>
        </p:txBody>
      </p:sp>
      <p:sp>
        <p:nvSpPr>
          <p:cNvPr id="4" name="TextBox 3">
            <a:extLst>
              <a:ext uri="{FF2B5EF4-FFF2-40B4-BE49-F238E27FC236}">
                <a16:creationId xmlns:a16="http://schemas.microsoft.com/office/drawing/2014/main" id="{A5944B7B-A238-1D77-4D9E-3ADCFE66E4BB}"/>
              </a:ext>
            </a:extLst>
          </p:cNvPr>
          <p:cNvSpPr txBox="1"/>
          <p:nvPr/>
        </p:nvSpPr>
        <p:spPr>
          <a:xfrm>
            <a:off x="340947" y="4058729"/>
            <a:ext cx="11205617" cy="1569660"/>
          </a:xfrm>
          <a:prstGeom prst="rect">
            <a:avLst/>
          </a:prstGeom>
          <a:noFill/>
        </p:spPr>
        <p:txBody>
          <a:bodyPr wrap="square" rtlCol="0">
            <a:spAutoFit/>
          </a:bodyPr>
          <a:lstStyle/>
          <a:p>
            <a:r>
              <a:rPr lang="en-US" sz="3200" dirty="0">
                <a:solidFill>
                  <a:srgbClr val="156082"/>
                </a:solidFill>
                <a:latin typeface="Arial Rounded MT Bold" panose="020F0704030504030204" pitchFamily="34" charset="0"/>
              </a:rPr>
              <a:t>The goal was scaffolded learning: guide first, then withdraw the scaffold and force the model to stand on its own.</a:t>
            </a:r>
            <a:endParaRPr lang="en-IN" sz="3200" dirty="0">
              <a:latin typeface="Arial Rounded MT Bold" panose="020F0704030504030204" pitchFamily="34" charset="0"/>
            </a:endParaRPr>
          </a:p>
        </p:txBody>
      </p:sp>
    </p:spTree>
    <p:extLst>
      <p:ext uri="{BB962C8B-B14F-4D97-AF65-F5344CB8AC3E}">
        <p14:creationId xmlns:p14="http://schemas.microsoft.com/office/powerpoint/2010/main" val="2132704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0E0E0"/>
        </a:solidFill>
        <a:effectLst/>
      </p:bgPr>
    </p:bg>
    <p:spTree>
      <p:nvGrpSpPr>
        <p:cNvPr id="1" name="">
          <a:extLst>
            <a:ext uri="{FF2B5EF4-FFF2-40B4-BE49-F238E27FC236}">
              <a16:creationId xmlns:a16="http://schemas.microsoft.com/office/drawing/2014/main" id="{22D77243-0329-9150-6EB7-68BF62457F2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0AEE266-3B2A-F9B4-BCF2-C074A420861F}"/>
              </a:ext>
            </a:extLst>
          </p:cNvPr>
          <p:cNvSpPr txBox="1"/>
          <p:nvPr/>
        </p:nvSpPr>
        <p:spPr>
          <a:xfrm>
            <a:off x="237585" y="5376549"/>
            <a:ext cx="11716829" cy="1384995"/>
          </a:xfrm>
          <a:prstGeom prst="rect">
            <a:avLst/>
          </a:prstGeom>
          <a:noFill/>
        </p:spPr>
        <p:txBody>
          <a:bodyPr wrap="square" rtlCol="0">
            <a:spAutoFit/>
          </a:bodyPr>
          <a:lstStyle/>
          <a:p>
            <a:r>
              <a:rPr lang="en-US" sz="2800" dirty="0">
                <a:latin typeface="Bahnschrift" panose="020B0502040204020203" pitchFamily="34" charset="0"/>
              </a:rPr>
              <a:t>After implementation, the conclusion that we reached was, the model was able to apply the hint and fuse the operations to reduce the computation, which was our first breakthrough.</a:t>
            </a:r>
            <a:endParaRPr lang="en-IN" sz="2800" dirty="0">
              <a:latin typeface="Bahnschrift" panose="020B0502040204020203" pitchFamily="34" charset="0"/>
            </a:endParaRPr>
          </a:p>
        </p:txBody>
      </p:sp>
      <p:pic>
        <p:nvPicPr>
          <p:cNvPr id="5" name="Picture 4">
            <a:extLst>
              <a:ext uri="{FF2B5EF4-FFF2-40B4-BE49-F238E27FC236}">
                <a16:creationId xmlns:a16="http://schemas.microsoft.com/office/drawing/2014/main" id="{B9573A64-495B-BD2D-EFC1-8BBE7B4609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1780" y="96456"/>
            <a:ext cx="8808440" cy="5280093"/>
          </a:xfrm>
          <a:prstGeom prst="rect">
            <a:avLst/>
          </a:prstGeom>
        </p:spPr>
      </p:pic>
    </p:spTree>
    <p:extLst>
      <p:ext uri="{BB962C8B-B14F-4D97-AF65-F5344CB8AC3E}">
        <p14:creationId xmlns:p14="http://schemas.microsoft.com/office/powerpoint/2010/main" val="11872872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0E0E0"/>
        </a:solidFill>
        <a:effectLst/>
      </p:bgPr>
    </p:bg>
    <p:spTree>
      <p:nvGrpSpPr>
        <p:cNvPr id="1" name="">
          <a:extLst>
            <a:ext uri="{FF2B5EF4-FFF2-40B4-BE49-F238E27FC236}">
              <a16:creationId xmlns:a16="http://schemas.microsoft.com/office/drawing/2014/main" id="{AF6A5406-7102-BCCA-FFBE-55FC0CB3CA3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EBD6D56-D7D5-9EF7-2249-984CFF67D9D3}"/>
              </a:ext>
            </a:extLst>
          </p:cNvPr>
          <p:cNvSpPr txBox="1"/>
          <p:nvPr/>
        </p:nvSpPr>
        <p:spPr>
          <a:xfrm>
            <a:off x="480472" y="2057526"/>
            <a:ext cx="11623182" cy="1384995"/>
          </a:xfrm>
          <a:prstGeom prst="rect">
            <a:avLst/>
          </a:prstGeom>
          <a:noFill/>
        </p:spPr>
        <p:txBody>
          <a:bodyPr wrap="square" rtlCol="0">
            <a:spAutoFit/>
          </a:bodyPr>
          <a:lstStyle/>
          <a:p>
            <a:r>
              <a:rPr lang="en-US" sz="2800" dirty="0">
                <a:solidFill>
                  <a:srgbClr val="156082"/>
                </a:solidFill>
                <a:latin typeface="Arial Rounded MT Bold" panose="020F0704030504030204" pitchFamily="34" charset="0"/>
              </a:rPr>
              <a:t>In v2, hints were rewarded immediately. In v3, we introduced a reward function that scores based on immediate reward and a discounted next step reward.</a:t>
            </a:r>
            <a:endParaRPr lang="en-IN" sz="2800" dirty="0">
              <a:solidFill>
                <a:srgbClr val="156082"/>
              </a:solidFill>
              <a:latin typeface="Arial Rounded MT Bold" panose="020F0704030504030204" pitchFamily="34" charset="0"/>
            </a:endParaRPr>
          </a:p>
        </p:txBody>
      </p:sp>
      <p:sp>
        <p:nvSpPr>
          <p:cNvPr id="3" name="TextBox 2">
            <a:extLst>
              <a:ext uri="{FF2B5EF4-FFF2-40B4-BE49-F238E27FC236}">
                <a16:creationId xmlns:a16="http://schemas.microsoft.com/office/drawing/2014/main" id="{38FB6567-C31E-DA83-CEFC-056303A8083D}"/>
              </a:ext>
            </a:extLst>
          </p:cNvPr>
          <p:cNvSpPr txBox="1"/>
          <p:nvPr/>
        </p:nvSpPr>
        <p:spPr>
          <a:xfrm>
            <a:off x="172634" y="210150"/>
            <a:ext cx="11697788" cy="1754326"/>
          </a:xfrm>
          <a:prstGeom prst="rect">
            <a:avLst/>
          </a:prstGeom>
          <a:noFill/>
        </p:spPr>
        <p:txBody>
          <a:bodyPr wrap="square" rtlCol="0">
            <a:spAutoFit/>
          </a:bodyPr>
          <a:lstStyle/>
          <a:p>
            <a:r>
              <a:rPr lang="en-US" sz="5400" dirty="0">
                <a:latin typeface="Arial Black" panose="020B0A04020102020204" pitchFamily="34" charset="0"/>
              </a:rPr>
              <a:t>v3: With Hints and 2 Step </a:t>
            </a:r>
            <a:r>
              <a:rPr lang="en-US" sz="5300" dirty="0">
                <a:latin typeface="Arial Black" panose="020B0A04020102020204" pitchFamily="34" charset="0"/>
              </a:rPr>
              <a:t>Look Ahead Scoring</a:t>
            </a:r>
            <a:endParaRPr lang="en-IN" sz="5300" dirty="0">
              <a:latin typeface="Arial Black" panose="020B0A04020102020204" pitchFamily="34" charset="0"/>
            </a:endParaRPr>
          </a:p>
        </p:txBody>
      </p:sp>
      <p:sp>
        <p:nvSpPr>
          <p:cNvPr id="4" name="TextBox 3">
            <a:extLst>
              <a:ext uri="{FF2B5EF4-FFF2-40B4-BE49-F238E27FC236}">
                <a16:creationId xmlns:a16="http://schemas.microsoft.com/office/drawing/2014/main" id="{FA306FCE-14E0-9336-35EC-7B0259EF365E}"/>
              </a:ext>
            </a:extLst>
          </p:cNvPr>
          <p:cNvSpPr txBox="1"/>
          <p:nvPr/>
        </p:nvSpPr>
        <p:spPr>
          <a:xfrm>
            <a:off x="480472" y="3635598"/>
            <a:ext cx="11389950" cy="1384995"/>
          </a:xfrm>
          <a:prstGeom prst="rect">
            <a:avLst/>
          </a:prstGeom>
          <a:noFill/>
        </p:spPr>
        <p:txBody>
          <a:bodyPr wrap="square" rtlCol="0">
            <a:spAutoFit/>
          </a:bodyPr>
          <a:lstStyle/>
          <a:p>
            <a:r>
              <a:rPr lang="en-US" sz="2800" dirty="0">
                <a:solidFill>
                  <a:srgbClr val="156082"/>
                </a:solidFill>
                <a:latin typeface="Arial Rounded MT Bold" panose="020F0704030504030204" pitchFamily="34" charset="0"/>
              </a:rPr>
              <a:t>In previous version retention wasn’t achieved, so the new reward structure was introduced to unlock credit assignment for retention.</a:t>
            </a:r>
            <a:endParaRPr lang="en-IN" sz="2800" dirty="0">
              <a:latin typeface="Arial Rounded MT Bold" panose="020F0704030504030204" pitchFamily="34" charset="0"/>
            </a:endParaRPr>
          </a:p>
        </p:txBody>
      </p:sp>
    </p:spTree>
    <p:extLst>
      <p:ext uri="{BB962C8B-B14F-4D97-AF65-F5344CB8AC3E}">
        <p14:creationId xmlns:p14="http://schemas.microsoft.com/office/powerpoint/2010/main" val="35243712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56082"/>
        </a:solidFill>
        <a:effectLst/>
      </p:bgPr>
    </p:bg>
    <p:spTree>
      <p:nvGrpSpPr>
        <p:cNvPr id="1" name="">
          <a:extLst>
            <a:ext uri="{FF2B5EF4-FFF2-40B4-BE49-F238E27FC236}">
              <a16:creationId xmlns:a16="http://schemas.microsoft.com/office/drawing/2014/main" id="{3034753F-47C8-8CE2-BB78-10F62B3E943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6B0A75E-B5D9-A1D5-E98C-5A46B4E043E0}"/>
              </a:ext>
            </a:extLst>
          </p:cNvPr>
          <p:cNvSpPr txBox="1"/>
          <p:nvPr/>
        </p:nvSpPr>
        <p:spPr>
          <a:xfrm>
            <a:off x="8039450" y="1191766"/>
            <a:ext cx="4152550" cy="1815882"/>
          </a:xfrm>
          <a:prstGeom prst="rect">
            <a:avLst/>
          </a:prstGeom>
          <a:noFill/>
        </p:spPr>
        <p:txBody>
          <a:bodyPr wrap="square" rtlCol="0">
            <a:spAutoFit/>
          </a:bodyPr>
          <a:lstStyle/>
          <a:p>
            <a:r>
              <a:rPr lang="en-US" sz="2800" dirty="0">
                <a:latin typeface="Arial Rounded MT Bold" panose="020F0704030504030204" pitchFamily="34" charset="0"/>
              </a:rPr>
              <a:t>In this version despite the new structure no retention was observed. </a:t>
            </a:r>
            <a:endParaRPr lang="en-IN" sz="2800" dirty="0">
              <a:latin typeface="Arial Rounded MT Bold" panose="020F0704030504030204" pitchFamily="34" charset="0"/>
            </a:endParaRPr>
          </a:p>
        </p:txBody>
      </p:sp>
      <p:pic>
        <p:nvPicPr>
          <p:cNvPr id="8" name="Picture 7">
            <a:extLst>
              <a:ext uri="{FF2B5EF4-FFF2-40B4-BE49-F238E27FC236}">
                <a16:creationId xmlns:a16="http://schemas.microsoft.com/office/drawing/2014/main" id="{2F5F4C44-36EF-3106-0CD8-4D7C2F0B860B}"/>
              </a:ext>
            </a:extLst>
          </p:cNvPr>
          <p:cNvPicPr>
            <a:picLocks noChangeAspect="1"/>
          </p:cNvPicPr>
          <p:nvPr/>
        </p:nvPicPr>
        <p:blipFill>
          <a:blip r:embed="rId2"/>
          <a:stretch>
            <a:fillRect/>
          </a:stretch>
        </p:blipFill>
        <p:spPr>
          <a:xfrm>
            <a:off x="252888" y="545284"/>
            <a:ext cx="7536470" cy="5381538"/>
          </a:xfrm>
          <a:prstGeom prst="rect">
            <a:avLst/>
          </a:prstGeom>
        </p:spPr>
      </p:pic>
      <p:sp>
        <p:nvSpPr>
          <p:cNvPr id="9" name="TextBox 8">
            <a:extLst>
              <a:ext uri="{FF2B5EF4-FFF2-40B4-BE49-F238E27FC236}">
                <a16:creationId xmlns:a16="http://schemas.microsoft.com/office/drawing/2014/main" id="{AD4804C8-8C49-D5F5-81CF-2718C0817895}"/>
              </a:ext>
            </a:extLst>
          </p:cNvPr>
          <p:cNvSpPr txBox="1"/>
          <p:nvPr/>
        </p:nvSpPr>
        <p:spPr>
          <a:xfrm>
            <a:off x="8137321" y="3429000"/>
            <a:ext cx="4479722" cy="1384995"/>
          </a:xfrm>
          <a:prstGeom prst="rect">
            <a:avLst/>
          </a:prstGeom>
          <a:noFill/>
        </p:spPr>
        <p:txBody>
          <a:bodyPr wrap="square" rtlCol="0">
            <a:spAutoFit/>
          </a:bodyPr>
          <a:lstStyle/>
          <a:p>
            <a:r>
              <a:rPr lang="en-US" sz="2800" dirty="0">
                <a:solidFill>
                  <a:schemeClr val="bg1">
                    <a:lumMod val="85000"/>
                  </a:schemeClr>
                </a:solidFill>
                <a:latin typeface="Arial Black" panose="020B0A04020102020204" pitchFamily="34" charset="0"/>
              </a:rPr>
              <a:t>Instead,</a:t>
            </a:r>
            <a:br>
              <a:rPr lang="en-US" sz="2800" dirty="0">
                <a:solidFill>
                  <a:schemeClr val="bg1">
                    <a:lumMod val="85000"/>
                  </a:schemeClr>
                </a:solidFill>
                <a:latin typeface="Arial Black" panose="020B0A04020102020204" pitchFamily="34" charset="0"/>
              </a:rPr>
            </a:br>
            <a:r>
              <a:rPr lang="en-US" sz="2800" dirty="0">
                <a:solidFill>
                  <a:schemeClr val="bg1">
                    <a:lumMod val="85000"/>
                  </a:schemeClr>
                </a:solidFill>
                <a:latin typeface="Arial Black" panose="020B0A04020102020204" pitchFamily="34" charset="0"/>
              </a:rPr>
              <a:t>We gained a new insight…</a:t>
            </a:r>
            <a:endParaRPr lang="en-IN" sz="2800" dirty="0">
              <a:solidFill>
                <a:schemeClr val="bg1">
                  <a:lumMod val="85000"/>
                </a:schemeClr>
              </a:solidFill>
              <a:latin typeface="Arial Black" panose="020B0A04020102020204" pitchFamily="34" charset="0"/>
            </a:endParaRPr>
          </a:p>
        </p:txBody>
      </p:sp>
    </p:spTree>
    <p:extLst>
      <p:ext uri="{BB962C8B-B14F-4D97-AF65-F5344CB8AC3E}">
        <p14:creationId xmlns:p14="http://schemas.microsoft.com/office/powerpoint/2010/main" val="34898366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56082"/>
        </a:solidFill>
        <a:effectLst/>
      </p:bgPr>
    </p:bg>
    <p:spTree>
      <p:nvGrpSpPr>
        <p:cNvPr id="1" name="">
          <a:extLst>
            <a:ext uri="{FF2B5EF4-FFF2-40B4-BE49-F238E27FC236}">
              <a16:creationId xmlns:a16="http://schemas.microsoft.com/office/drawing/2014/main" id="{33C97036-DD21-8F7E-E5C1-12C92BD7034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5FEE9D3-5BEA-AF7B-B88A-0B4A7C4DB898}"/>
              </a:ext>
            </a:extLst>
          </p:cNvPr>
          <p:cNvSpPr txBox="1"/>
          <p:nvPr/>
        </p:nvSpPr>
        <p:spPr>
          <a:xfrm>
            <a:off x="544531" y="1395806"/>
            <a:ext cx="10926565" cy="1815882"/>
          </a:xfrm>
          <a:prstGeom prst="rect">
            <a:avLst/>
          </a:prstGeom>
          <a:noFill/>
        </p:spPr>
        <p:txBody>
          <a:bodyPr wrap="square" rtlCol="0">
            <a:spAutoFit/>
          </a:bodyPr>
          <a:lstStyle/>
          <a:p>
            <a:r>
              <a:rPr lang="en-US" sz="2800" dirty="0">
                <a:solidFill>
                  <a:schemeClr val="bg1">
                    <a:lumMod val="85000"/>
                  </a:schemeClr>
                </a:solidFill>
                <a:latin typeface="Arial Rounded MT Bold" panose="020F0704030504030204" pitchFamily="34" charset="0"/>
              </a:rPr>
              <a:t>The LLM in training (</a:t>
            </a:r>
            <a:r>
              <a:rPr lang="en-IN" sz="2800" dirty="0">
                <a:solidFill>
                  <a:schemeClr val="bg1">
                    <a:lumMod val="85000"/>
                  </a:schemeClr>
                </a:solidFill>
                <a:latin typeface="Arial Rounded MT Bold" panose="020F0704030504030204" pitchFamily="34" charset="0"/>
              </a:rPr>
              <a:t>Qwen2.5) was able to discover a strategy far superior to retention i.e., fusing all operations.</a:t>
            </a:r>
          </a:p>
          <a:p>
            <a:r>
              <a:rPr lang="en-IN" sz="2800" dirty="0">
                <a:solidFill>
                  <a:schemeClr val="bg1">
                    <a:lumMod val="85000"/>
                  </a:schemeClr>
                </a:solidFill>
                <a:latin typeface="Arial Rounded MT Bold" panose="020F0704030504030204" pitchFamily="34" charset="0"/>
              </a:rPr>
              <a:t>Hence, a sudden jump in learning towards the final episode was observed.</a:t>
            </a:r>
          </a:p>
        </p:txBody>
      </p:sp>
      <p:sp>
        <p:nvSpPr>
          <p:cNvPr id="3" name="TextBox 2">
            <a:extLst>
              <a:ext uri="{FF2B5EF4-FFF2-40B4-BE49-F238E27FC236}">
                <a16:creationId xmlns:a16="http://schemas.microsoft.com/office/drawing/2014/main" id="{D0BAADD0-AE86-2D5E-3BFF-67BBB89FDC4C}"/>
              </a:ext>
            </a:extLst>
          </p:cNvPr>
          <p:cNvSpPr txBox="1"/>
          <p:nvPr/>
        </p:nvSpPr>
        <p:spPr>
          <a:xfrm>
            <a:off x="323636" y="380144"/>
            <a:ext cx="10926566" cy="1015663"/>
          </a:xfrm>
          <a:prstGeom prst="rect">
            <a:avLst/>
          </a:prstGeom>
          <a:noFill/>
        </p:spPr>
        <p:txBody>
          <a:bodyPr wrap="square" rtlCol="0">
            <a:spAutoFit/>
          </a:bodyPr>
          <a:lstStyle/>
          <a:p>
            <a:r>
              <a:rPr lang="en-US" sz="6000" dirty="0">
                <a:latin typeface="Arial Black" panose="020B0A04020102020204" pitchFamily="34" charset="0"/>
              </a:rPr>
              <a:t>The Insight</a:t>
            </a:r>
            <a:endParaRPr lang="en-IN" sz="6000" dirty="0">
              <a:latin typeface="Arial Black" panose="020B0A04020102020204" pitchFamily="34" charset="0"/>
            </a:endParaRPr>
          </a:p>
        </p:txBody>
      </p:sp>
      <p:sp>
        <p:nvSpPr>
          <p:cNvPr id="4" name="TextBox 3">
            <a:extLst>
              <a:ext uri="{FF2B5EF4-FFF2-40B4-BE49-F238E27FC236}">
                <a16:creationId xmlns:a16="http://schemas.microsoft.com/office/drawing/2014/main" id="{41CE5E13-CEE8-45B4-9DBA-6F9EDE6AF52F}"/>
              </a:ext>
            </a:extLst>
          </p:cNvPr>
          <p:cNvSpPr txBox="1"/>
          <p:nvPr/>
        </p:nvSpPr>
        <p:spPr>
          <a:xfrm>
            <a:off x="941799" y="3646312"/>
            <a:ext cx="10529297" cy="1815882"/>
          </a:xfrm>
          <a:prstGeom prst="rect">
            <a:avLst/>
          </a:prstGeom>
          <a:noFill/>
        </p:spPr>
        <p:txBody>
          <a:bodyPr wrap="square" rtlCol="0">
            <a:spAutoFit/>
          </a:bodyPr>
          <a:lstStyle/>
          <a:p>
            <a:r>
              <a:rPr lang="en-US" sz="2800" b="1" dirty="0">
                <a:solidFill>
                  <a:schemeClr val="bg1">
                    <a:lumMod val="85000"/>
                  </a:schemeClr>
                </a:solidFill>
              </a:rPr>
              <a:t>The hints, combined with the environment's inherent structure, </a:t>
            </a:r>
            <a:r>
              <a:rPr lang="en-US" sz="2800" i="1" dirty="0">
                <a:solidFill>
                  <a:schemeClr val="bg1">
                    <a:lumMod val="85000"/>
                  </a:schemeClr>
                </a:solidFill>
              </a:rPr>
              <a:t>gave the model enough signal to game the evaluation rather than solve the underlying problem</a:t>
            </a:r>
            <a:r>
              <a:rPr lang="en-US" sz="2800" b="1" dirty="0">
                <a:solidFill>
                  <a:schemeClr val="bg1">
                    <a:lumMod val="85000"/>
                  </a:schemeClr>
                </a:solidFill>
              </a:rPr>
              <a:t>. The results looked promising, but the model had found a shortcut, not a strategy.</a:t>
            </a:r>
            <a:endParaRPr lang="en-IN" sz="2800" b="1" dirty="0">
              <a:solidFill>
                <a:schemeClr val="bg1">
                  <a:lumMod val="85000"/>
                </a:schemeClr>
              </a:solidFill>
            </a:endParaRPr>
          </a:p>
        </p:txBody>
      </p:sp>
    </p:spTree>
    <p:extLst>
      <p:ext uri="{BB962C8B-B14F-4D97-AF65-F5344CB8AC3E}">
        <p14:creationId xmlns:p14="http://schemas.microsoft.com/office/powerpoint/2010/main" val="38414979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0E0E0"/>
        </a:solidFill>
        <a:effectLst/>
      </p:bgPr>
    </p:bg>
    <p:spTree>
      <p:nvGrpSpPr>
        <p:cNvPr id="1" name="">
          <a:extLst>
            <a:ext uri="{FF2B5EF4-FFF2-40B4-BE49-F238E27FC236}">
              <a16:creationId xmlns:a16="http://schemas.microsoft.com/office/drawing/2014/main" id="{1117E3BA-A8C1-90DC-71B6-050481C7B76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CBCAB65-EB59-7AA8-2CB5-0EA0A984364B}"/>
              </a:ext>
            </a:extLst>
          </p:cNvPr>
          <p:cNvSpPr txBox="1"/>
          <p:nvPr/>
        </p:nvSpPr>
        <p:spPr>
          <a:xfrm>
            <a:off x="259882" y="676616"/>
            <a:ext cx="11211215" cy="1384995"/>
          </a:xfrm>
          <a:prstGeom prst="rect">
            <a:avLst/>
          </a:prstGeom>
          <a:noFill/>
        </p:spPr>
        <p:txBody>
          <a:bodyPr wrap="square" rtlCol="0">
            <a:spAutoFit/>
          </a:bodyPr>
          <a:lstStyle/>
          <a:p>
            <a:r>
              <a:rPr lang="en-US" sz="2800" dirty="0">
                <a:solidFill>
                  <a:srgbClr val="156082"/>
                </a:solidFill>
                <a:latin typeface="Arial Rounded MT Bold" panose="020F0704030504030204" pitchFamily="34" charset="0"/>
              </a:rPr>
              <a:t>This time, instead of separate tasks for computational graphs. We built a general framework where the environment is agnostic to the complexity or the shape of the graph.</a:t>
            </a:r>
            <a:endParaRPr lang="en-IN" sz="2800" dirty="0">
              <a:solidFill>
                <a:srgbClr val="156082"/>
              </a:solidFill>
              <a:latin typeface="Arial Rounded MT Bold" panose="020F0704030504030204" pitchFamily="34" charset="0"/>
            </a:endParaRPr>
          </a:p>
        </p:txBody>
      </p:sp>
      <p:sp>
        <p:nvSpPr>
          <p:cNvPr id="4" name="TextBox 3">
            <a:extLst>
              <a:ext uri="{FF2B5EF4-FFF2-40B4-BE49-F238E27FC236}">
                <a16:creationId xmlns:a16="http://schemas.microsoft.com/office/drawing/2014/main" id="{9B85F0F7-7AD0-22CF-7CFB-3F655315C53E}"/>
              </a:ext>
            </a:extLst>
          </p:cNvPr>
          <p:cNvSpPr txBox="1"/>
          <p:nvPr/>
        </p:nvSpPr>
        <p:spPr>
          <a:xfrm>
            <a:off x="259882" y="2275406"/>
            <a:ext cx="11211215" cy="2246769"/>
          </a:xfrm>
          <a:prstGeom prst="rect">
            <a:avLst/>
          </a:prstGeom>
          <a:noFill/>
        </p:spPr>
        <p:txBody>
          <a:bodyPr wrap="square" rtlCol="0">
            <a:spAutoFit/>
          </a:bodyPr>
          <a:lstStyle/>
          <a:p>
            <a:r>
              <a:rPr lang="en-US" sz="2800" dirty="0">
                <a:solidFill>
                  <a:srgbClr val="156082"/>
                </a:solidFill>
                <a:latin typeface="Arial Rounded MT Bold" panose="020F0704030504030204" pitchFamily="34" charset="0"/>
              </a:rPr>
              <a:t>Unlike before where the environment was limited to 8 operations per task, which was a hard ceiling and hence gaming was possible since,  OOM error only occurs in complex computational graphs and the LLM wasn’t able to learn: partial fusion, retention, and scheduling.</a:t>
            </a:r>
            <a:endParaRPr lang="en-IN" sz="2800" dirty="0">
              <a:solidFill>
                <a:srgbClr val="156082"/>
              </a:solidFill>
              <a:latin typeface="Arial Rounded MT Bold" panose="020F0704030504030204" pitchFamily="34" charset="0"/>
            </a:endParaRPr>
          </a:p>
        </p:txBody>
      </p:sp>
      <p:sp>
        <p:nvSpPr>
          <p:cNvPr id="5" name="TextBox 4">
            <a:extLst>
              <a:ext uri="{FF2B5EF4-FFF2-40B4-BE49-F238E27FC236}">
                <a16:creationId xmlns:a16="http://schemas.microsoft.com/office/drawing/2014/main" id="{168BAD40-2B04-8C14-9CF9-235F5B3438F0}"/>
              </a:ext>
            </a:extLst>
          </p:cNvPr>
          <p:cNvSpPr txBox="1"/>
          <p:nvPr/>
        </p:nvSpPr>
        <p:spPr>
          <a:xfrm>
            <a:off x="399448" y="5003156"/>
            <a:ext cx="2580058" cy="523220"/>
          </a:xfrm>
          <a:prstGeom prst="rect">
            <a:avLst/>
          </a:prstGeom>
          <a:noFill/>
        </p:spPr>
        <p:txBody>
          <a:bodyPr wrap="square" rtlCol="0">
            <a:spAutoFit/>
          </a:bodyPr>
          <a:lstStyle/>
          <a:p>
            <a:r>
              <a:rPr lang="en-US" sz="2800" dirty="0">
                <a:solidFill>
                  <a:srgbClr val="156082"/>
                </a:solidFill>
                <a:latin typeface="Arial Rounded MT Bold" panose="020F0704030504030204" pitchFamily="34" charset="0"/>
              </a:rPr>
              <a:t>Thus, we built</a:t>
            </a:r>
            <a:endParaRPr lang="en-IN" sz="2800" dirty="0">
              <a:latin typeface="Arial Rounded MT Bold" panose="020F0704030504030204" pitchFamily="34" charset="0"/>
            </a:endParaRPr>
          </a:p>
        </p:txBody>
      </p:sp>
      <p:sp>
        <p:nvSpPr>
          <p:cNvPr id="6" name="TextBox 5">
            <a:extLst>
              <a:ext uri="{FF2B5EF4-FFF2-40B4-BE49-F238E27FC236}">
                <a16:creationId xmlns:a16="http://schemas.microsoft.com/office/drawing/2014/main" id="{B9474870-7223-D7C4-B3EA-42E2D7D2CF2F}"/>
              </a:ext>
            </a:extLst>
          </p:cNvPr>
          <p:cNvSpPr txBox="1"/>
          <p:nvPr/>
        </p:nvSpPr>
        <p:spPr>
          <a:xfrm>
            <a:off x="2979506" y="4756935"/>
            <a:ext cx="8491591" cy="769441"/>
          </a:xfrm>
          <a:prstGeom prst="rect">
            <a:avLst/>
          </a:prstGeom>
          <a:noFill/>
        </p:spPr>
        <p:txBody>
          <a:bodyPr wrap="square" rtlCol="0">
            <a:spAutoFit/>
          </a:bodyPr>
          <a:lstStyle/>
          <a:p>
            <a:r>
              <a:rPr lang="en-US" sz="4400" dirty="0">
                <a:latin typeface="Arial Black" panose="020B0A04020102020204" pitchFamily="34" charset="0"/>
              </a:rPr>
              <a:t>Compiler-</a:t>
            </a:r>
            <a:r>
              <a:rPr lang="en-US" sz="4400" dirty="0" err="1">
                <a:latin typeface="Arial Black" panose="020B0A04020102020204" pitchFamily="34" charset="0"/>
              </a:rPr>
              <a:t>Scheduler.env</a:t>
            </a:r>
            <a:endParaRPr lang="en-IN" sz="4400" dirty="0">
              <a:latin typeface="Arial Black" panose="020B0A04020102020204" pitchFamily="34" charset="0"/>
            </a:endParaRPr>
          </a:p>
        </p:txBody>
      </p:sp>
    </p:spTree>
    <p:extLst>
      <p:ext uri="{BB962C8B-B14F-4D97-AF65-F5344CB8AC3E}">
        <p14:creationId xmlns:p14="http://schemas.microsoft.com/office/powerpoint/2010/main" val="10795950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0E0E0"/>
        </a:solidFill>
        <a:effectLst/>
      </p:bgPr>
    </p:bg>
    <p:spTree>
      <p:nvGrpSpPr>
        <p:cNvPr id="1" name="">
          <a:extLst>
            <a:ext uri="{FF2B5EF4-FFF2-40B4-BE49-F238E27FC236}">
              <a16:creationId xmlns:a16="http://schemas.microsoft.com/office/drawing/2014/main" id="{EEAF6D6A-A227-C00B-0EEB-7026B989825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1C24452-0473-522C-CB2F-D30723255F8F}"/>
              </a:ext>
            </a:extLst>
          </p:cNvPr>
          <p:cNvSpPr txBox="1"/>
          <p:nvPr/>
        </p:nvSpPr>
        <p:spPr>
          <a:xfrm>
            <a:off x="941800" y="245102"/>
            <a:ext cx="9363181" cy="523220"/>
          </a:xfrm>
          <a:prstGeom prst="rect">
            <a:avLst/>
          </a:prstGeom>
          <a:noFill/>
        </p:spPr>
        <p:txBody>
          <a:bodyPr wrap="square" rtlCol="0">
            <a:spAutoFit/>
          </a:bodyPr>
          <a:lstStyle/>
          <a:p>
            <a:pPr marL="457200" indent="-457200">
              <a:buFont typeface="Arial" panose="020B0604020202020204" pitchFamily="34" charset="0"/>
              <a:buChar char="•"/>
            </a:pPr>
            <a:r>
              <a:rPr lang="en-US" sz="2800" dirty="0">
                <a:solidFill>
                  <a:srgbClr val="156082"/>
                </a:solidFill>
              </a:rPr>
              <a:t>Agnostic to the complexity or the shape of the graph.</a:t>
            </a:r>
          </a:p>
        </p:txBody>
      </p:sp>
      <p:sp>
        <p:nvSpPr>
          <p:cNvPr id="3" name="TextBox 2">
            <a:extLst>
              <a:ext uri="{FF2B5EF4-FFF2-40B4-BE49-F238E27FC236}">
                <a16:creationId xmlns:a16="http://schemas.microsoft.com/office/drawing/2014/main" id="{C02ECC4F-48F9-BA79-E71B-66FC29949B96}"/>
              </a:ext>
            </a:extLst>
          </p:cNvPr>
          <p:cNvSpPr txBox="1"/>
          <p:nvPr/>
        </p:nvSpPr>
        <p:spPr>
          <a:xfrm>
            <a:off x="941800" y="1085402"/>
            <a:ext cx="9363181" cy="2431435"/>
          </a:xfrm>
          <a:prstGeom prst="rect">
            <a:avLst/>
          </a:prstGeom>
          <a:noFill/>
        </p:spPr>
        <p:txBody>
          <a:bodyPr wrap="square" rtlCol="0">
            <a:spAutoFit/>
          </a:bodyPr>
          <a:lstStyle/>
          <a:p>
            <a:pPr marL="457200" indent="-457200">
              <a:buFont typeface="Arial" panose="020B0604020202020204" pitchFamily="34" charset="0"/>
              <a:buChar char="•"/>
            </a:pPr>
            <a:r>
              <a:rPr lang="en-US" sz="2800" dirty="0">
                <a:solidFill>
                  <a:srgbClr val="156082"/>
                </a:solidFill>
              </a:rPr>
              <a:t>Our baseline this time is greedy as compared to the Naïve approach in </a:t>
            </a:r>
            <a:r>
              <a:rPr lang="en-US" sz="2800" dirty="0" err="1">
                <a:solidFill>
                  <a:srgbClr val="156082"/>
                </a:solidFill>
              </a:rPr>
              <a:t>FusionOps</a:t>
            </a:r>
            <a:r>
              <a:rPr lang="en-US" sz="2800" dirty="0">
                <a:solidFill>
                  <a:srgbClr val="156082"/>
                </a:solidFill>
              </a:rPr>
              <a:t>, for two reasons:</a:t>
            </a:r>
          </a:p>
          <a:p>
            <a:pPr marL="914400" lvl="1" indent="-457200">
              <a:buFont typeface="Arial" panose="020B0604020202020204" pitchFamily="34" charset="0"/>
              <a:buChar char="•"/>
            </a:pPr>
            <a:r>
              <a:rPr lang="en-US" sz="2400" dirty="0">
                <a:solidFill>
                  <a:srgbClr val="156082"/>
                </a:solidFill>
              </a:rPr>
              <a:t>Greedy already performs basic fusion and immediate retention</a:t>
            </a:r>
          </a:p>
          <a:p>
            <a:pPr marL="914400" lvl="1" indent="-457200">
              <a:buFont typeface="Arial" panose="020B0604020202020204" pitchFamily="34" charset="0"/>
              <a:buChar char="•"/>
            </a:pPr>
            <a:r>
              <a:rPr lang="en-US" sz="2400" dirty="0">
                <a:solidFill>
                  <a:srgbClr val="156082"/>
                </a:solidFill>
              </a:rPr>
              <a:t>In case the learning is negative. We know that, the LLM missed the easy operations that was even obvious to the greedy approach.</a:t>
            </a:r>
            <a:endParaRPr lang="en-US" sz="2800" dirty="0">
              <a:solidFill>
                <a:srgbClr val="156082"/>
              </a:solidFill>
            </a:endParaRPr>
          </a:p>
        </p:txBody>
      </p:sp>
      <p:sp>
        <p:nvSpPr>
          <p:cNvPr id="7" name="TextBox 6">
            <a:extLst>
              <a:ext uri="{FF2B5EF4-FFF2-40B4-BE49-F238E27FC236}">
                <a16:creationId xmlns:a16="http://schemas.microsoft.com/office/drawing/2014/main" id="{867CB34E-7AEC-4A1E-383E-BA189DC4114D}"/>
              </a:ext>
            </a:extLst>
          </p:cNvPr>
          <p:cNvSpPr txBox="1"/>
          <p:nvPr/>
        </p:nvSpPr>
        <p:spPr>
          <a:xfrm>
            <a:off x="941800" y="3429000"/>
            <a:ext cx="9363181" cy="954107"/>
          </a:xfrm>
          <a:prstGeom prst="rect">
            <a:avLst/>
          </a:prstGeom>
          <a:noFill/>
        </p:spPr>
        <p:txBody>
          <a:bodyPr wrap="square" rtlCol="0">
            <a:spAutoFit/>
          </a:bodyPr>
          <a:lstStyle/>
          <a:p>
            <a:pPr marL="457200" indent="-457200">
              <a:buFont typeface="Arial" panose="020B0604020202020204" pitchFamily="34" charset="0"/>
              <a:buChar char="•"/>
            </a:pPr>
            <a:r>
              <a:rPr lang="en-US" sz="2800" dirty="0">
                <a:solidFill>
                  <a:srgbClr val="156082"/>
                </a:solidFill>
              </a:rPr>
              <a:t>Now the environment was ready to tackle the gap that the first environment failed to accomplish</a:t>
            </a:r>
            <a:endParaRPr lang="en-IN" sz="2800" dirty="0">
              <a:solidFill>
                <a:srgbClr val="156082"/>
              </a:solidFill>
            </a:endParaRPr>
          </a:p>
        </p:txBody>
      </p:sp>
    </p:spTree>
    <p:extLst>
      <p:ext uri="{BB962C8B-B14F-4D97-AF65-F5344CB8AC3E}">
        <p14:creationId xmlns:p14="http://schemas.microsoft.com/office/powerpoint/2010/main" val="12947249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0E0E0"/>
        </a:solidFill>
        <a:effectLst/>
      </p:bgPr>
    </p:bg>
    <p:spTree>
      <p:nvGrpSpPr>
        <p:cNvPr id="1" name="">
          <a:extLst>
            <a:ext uri="{FF2B5EF4-FFF2-40B4-BE49-F238E27FC236}">
              <a16:creationId xmlns:a16="http://schemas.microsoft.com/office/drawing/2014/main" id="{98C46026-E64F-6690-739C-35F3901E8C8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14E85B5-B050-0D97-120A-94B822660043}"/>
              </a:ext>
            </a:extLst>
          </p:cNvPr>
          <p:cNvSpPr txBox="1"/>
          <p:nvPr/>
        </p:nvSpPr>
        <p:spPr>
          <a:xfrm>
            <a:off x="941800" y="245102"/>
            <a:ext cx="9363181" cy="523220"/>
          </a:xfrm>
          <a:prstGeom prst="rect">
            <a:avLst/>
          </a:prstGeom>
          <a:noFill/>
        </p:spPr>
        <p:txBody>
          <a:bodyPr wrap="square" rtlCol="0">
            <a:spAutoFit/>
          </a:bodyPr>
          <a:lstStyle/>
          <a:p>
            <a:r>
              <a:rPr lang="en-US" sz="2800" dirty="0">
                <a:solidFill>
                  <a:srgbClr val="156082"/>
                </a:solidFill>
                <a:latin typeface="Arial Black" panose="020B0A04020102020204" pitchFamily="34" charset="0"/>
              </a:rPr>
              <a:t>Training.py</a:t>
            </a:r>
          </a:p>
        </p:txBody>
      </p:sp>
      <p:sp>
        <p:nvSpPr>
          <p:cNvPr id="3" name="TextBox 2">
            <a:extLst>
              <a:ext uri="{FF2B5EF4-FFF2-40B4-BE49-F238E27FC236}">
                <a16:creationId xmlns:a16="http://schemas.microsoft.com/office/drawing/2014/main" id="{BFB7F483-5AA0-584F-19AA-7BD71F479F37}"/>
              </a:ext>
            </a:extLst>
          </p:cNvPr>
          <p:cNvSpPr txBox="1"/>
          <p:nvPr/>
        </p:nvSpPr>
        <p:spPr>
          <a:xfrm>
            <a:off x="413886" y="873977"/>
            <a:ext cx="11051067" cy="954107"/>
          </a:xfrm>
          <a:prstGeom prst="rect">
            <a:avLst/>
          </a:prstGeom>
          <a:noFill/>
        </p:spPr>
        <p:txBody>
          <a:bodyPr wrap="square" rtlCol="0">
            <a:spAutoFit/>
          </a:bodyPr>
          <a:lstStyle/>
          <a:p>
            <a:pPr marL="457200" indent="-457200">
              <a:buFont typeface="Arial" panose="020B0604020202020204" pitchFamily="34" charset="0"/>
              <a:buChar char="•"/>
            </a:pPr>
            <a:r>
              <a:rPr lang="en-US" sz="2800" dirty="0">
                <a:solidFill>
                  <a:srgbClr val="156082"/>
                </a:solidFill>
                <a:latin typeface="Arial Rounded MT Bold" panose="020F0704030504030204" pitchFamily="34" charset="0"/>
              </a:rPr>
              <a:t>This time instead of rewarding fusion, following the order we took a different approach</a:t>
            </a:r>
          </a:p>
        </p:txBody>
      </p:sp>
      <p:sp>
        <p:nvSpPr>
          <p:cNvPr id="7" name="TextBox 6">
            <a:extLst>
              <a:ext uri="{FF2B5EF4-FFF2-40B4-BE49-F238E27FC236}">
                <a16:creationId xmlns:a16="http://schemas.microsoft.com/office/drawing/2014/main" id="{306E3F9F-5F72-C96B-EE19-76B1D0C17CA8}"/>
              </a:ext>
            </a:extLst>
          </p:cNvPr>
          <p:cNvSpPr txBox="1"/>
          <p:nvPr/>
        </p:nvSpPr>
        <p:spPr>
          <a:xfrm>
            <a:off x="5162057" y="1851545"/>
            <a:ext cx="5876818" cy="523220"/>
          </a:xfrm>
          <a:prstGeom prst="rect">
            <a:avLst/>
          </a:prstGeom>
          <a:noFill/>
        </p:spPr>
        <p:txBody>
          <a:bodyPr wrap="square" rtlCol="0">
            <a:spAutoFit/>
          </a:bodyPr>
          <a:lstStyle/>
          <a:p>
            <a:r>
              <a:rPr lang="en-US" sz="2800" b="1" i="1" dirty="0">
                <a:solidFill>
                  <a:srgbClr val="156082"/>
                </a:solidFill>
              </a:rPr>
              <a:t>Do whatever reduces latency</a:t>
            </a:r>
            <a:endParaRPr lang="en-IN" sz="2800" b="1" i="1" dirty="0">
              <a:solidFill>
                <a:srgbClr val="156082"/>
              </a:solidFill>
            </a:endParaRPr>
          </a:p>
        </p:txBody>
      </p:sp>
      <p:sp>
        <p:nvSpPr>
          <p:cNvPr id="4" name="TextBox 3">
            <a:extLst>
              <a:ext uri="{FF2B5EF4-FFF2-40B4-BE49-F238E27FC236}">
                <a16:creationId xmlns:a16="http://schemas.microsoft.com/office/drawing/2014/main" id="{39916B84-29D9-E875-2B5D-90BD0A9AEC2A}"/>
              </a:ext>
            </a:extLst>
          </p:cNvPr>
          <p:cNvSpPr txBox="1"/>
          <p:nvPr/>
        </p:nvSpPr>
        <p:spPr>
          <a:xfrm>
            <a:off x="413886" y="2357637"/>
            <a:ext cx="10963175" cy="1384995"/>
          </a:xfrm>
          <a:prstGeom prst="rect">
            <a:avLst/>
          </a:prstGeom>
          <a:noFill/>
        </p:spPr>
        <p:txBody>
          <a:bodyPr wrap="square" rtlCol="0">
            <a:spAutoFit/>
          </a:bodyPr>
          <a:lstStyle/>
          <a:p>
            <a:r>
              <a:rPr lang="en-US" sz="2800" dirty="0">
                <a:solidFill>
                  <a:srgbClr val="156082"/>
                </a:solidFill>
                <a:latin typeface="Arial Rounded MT Bold" panose="020F0704030504030204" pitchFamily="34" charset="0"/>
              </a:rPr>
              <a:t>This means we are rewarding fusions that reduce computation time. Keeping data in fast memory (retention) and picking a good tile size.</a:t>
            </a:r>
          </a:p>
        </p:txBody>
      </p:sp>
      <p:sp>
        <p:nvSpPr>
          <p:cNvPr id="5" name="TextBox 4">
            <a:extLst>
              <a:ext uri="{FF2B5EF4-FFF2-40B4-BE49-F238E27FC236}">
                <a16:creationId xmlns:a16="http://schemas.microsoft.com/office/drawing/2014/main" id="{307FEF8B-4C73-5617-5A6B-823DDFD27780}"/>
              </a:ext>
            </a:extLst>
          </p:cNvPr>
          <p:cNvSpPr txBox="1"/>
          <p:nvPr/>
        </p:nvSpPr>
        <p:spPr>
          <a:xfrm>
            <a:off x="413887" y="3883668"/>
            <a:ext cx="9811038" cy="523220"/>
          </a:xfrm>
          <a:prstGeom prst="rect">
            <a:avLst/>
          </a:prstGeom>
          <a:noFill/>
        </p:spPr>
        <p:txBody>
          <a:bodyPr wrap="square" rtlCol="0">
            <a:spAutoFit/>
          </a:bodyPr>
          <a:lstStyle/>
          <a:p>
            <a:pPr marL="457200" indent="-457200">
              <a:buFont typeface="Arial" panose="020B0604020202020204" pitchFamily="34" charset="0"/>
              <a:buChar char="•"/>
            </a:pPr>
            <a:r>
              <a:rPr lang="en-US" sz="2800" dirty="0">
                <a:solidFill>
                  <a:srgbClr val="156082"/>
                </a:solidFill>
                <a:latin typeface="Arial Rounded MT Bold" panose="020F0704030504030204" pitchFamily="34" charset="0"/>
              </a:rPr>
              <a:t>We used GRPO with reference anchor DPO.</a:t>
            </a:r>
            <a:endParaRPr lang="en-IN" sz="2800" dirty="0">
              <a:latin typeface="Arial Rounded MT Bold" panose="020F0704030504030204" pitchFamily="34" charset="0"/>
            </a:endParaRPr>
          </a:p>
        </p:txBody>
      </p:sp>
      <p:sp>
        <p:nvSpPr>
          <p:cNvPr id="6" name="TextBox 5">
            <a:extLst>
              <a:ext uri="{FF2B5EF4-FFF2-40B4-BE49-F238E27FC236}">
                <a16:creationId xmlns:a16="http://schemas.microsoft.com/office/drawing/2014/main" id="{8AC3A09E-0477-FA18-4DD5-BFBC6B22D486}"/>
              </a:ext>
            </a:extLst>
          </p:cNvPr>
          <p:cNvSpPr txBox="1"/>
          <p:nvPr/>
        </p:nvSpPr>
        <p:spPr>
          <a:xfrm>
            <a:off x="284180" y="4957016"/>
            <a:ext cx="2603399" cy="461665"/>
          </a:xfrm>
          <a:prstGeom prst="rect">
            <a:avLst/>
          </a:prstGeom>
          <a:noFill/>
        </p:spPr>
        <p:txBody>
          <a:bodyPr wrap="square" rtlCol="0">
            <a:spAutoFit/>
          </a:bodyPr>
          <a:lstStyle/>
          <a:p>
            <a:r>
              <a:rPr lang="en-US" sz="2400" i="1" dirty="0"/>
              <a:t>In simple words</a:t>
            </a:r>
            <a:endParaRPr lang="en-IN" sz="2400" i="1" dirty="0"/>
          </a:p>
        </p:txBody>
      </p:sp>
      <p:sp>
        <p:nvSpPr>
          <p:cNvPr id="8" name="TextBox 7">
            <a:extLst>
              <a:ext uri="{FF2B5EF4-FFF2-40B4-BE49-F238E27FC236}">
                <a16:creationId xmlns:a16="http://schemas.microsoft.com/office/drawing/2014/main" id="{15762C13-65ED-8F93-75D6-171C810B575A}"/>
              </a:ext>
            </a:extLst>
          </p:cNvPr>
          <p:cNvSpPr txBox="1"/>
          <p:nvPr/>
        </p:nvSpPr>
        <p:spPr>
          <a:xfrm>
            <a:off x="727046" y="5418681"/>
            <a:ext cx="10737908" cy="954107"/>
          </a:xfrm>
          <a:prstGeom prst="rect">
            <a:avLst/>
          </a:prstGeom>
          <a:noFill/>
        </p:spPr>
        <p:txBody>
          <a:bodyPr wrap="square" rtlCol="0">
            <a:spAutoFit/>
          </a:bodyPr>
          <a:lstStyle/>
          <a:p>
            <a:r>
              <a:rPr lang="en-US" sz="2800" b="1" dirty="0"/>
              <a:t>generate a few options, test them all, reward the winners, punish the losers, and copy the expert when you're still bad at it.</a:t>
            </a:r>
            <a:endParaRPr lang="en-IN" sz="2800" b="1" dirty="0"/>
          </a:p>
        </p:txBody>
      </p:sp>
    </p:spTree>
    <p:extLst>
      <p:ext uri="{BB962C8B-B14F-4D97-AF65-F5344CB8AC3E}">
        <p14:creationId xmlns:p14="http://schemas.microsoft.com/office/powerpoint/2010/main" val="26131160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56082"/>
        </a:solidFill>
        <a:effectLst/>
      </p:bgPr>
    </p:bg>
    <p:spTree>
      <p:nvGrpSpPr>
        <p:cNvPr id="1" name="">
          <a:extLst>
            <a:ext uri="{FF2B5EF4-FFF2-40B4-BE49-F238E27FC236}">
              <a16:creationId xmlns:a16="http://schemas.microsoft.com/office/drawing/2014/main" id="{58DFF3E5-DE9A-59A8-D807-8472C3CFEA0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B88A0FD-C4F5-4840-E88F-EFFE8C4F46FD}"/>
              </a:ext>
            </a:extLst>
          </p:cNvPr>
          <p:cNvSpPr txBox="1"/>
          <p:nvPr/>
        </p:nvSpPr>
        <p:spPr>
          <a:xfrm>
            <a:off x="323635" y="1440454"/>
            <a:ext cx="11809135" cy="1077218"/>
          </a:xfrm>
          <a:prstGeom prst="rect">
            <a:avLst/>
          </a:prstGeom>
          <a:noFill/>
        </p:spPr>
        <p:txBody>
          <a:bodyPr wrap="square" rtlCol="0">
            <a:spAutoFit/>
          </a:bodyPr>
          <a:lstStyle/>
          <a:p>
            <a:r>
              <a:rPr lang="en-US" sz="3200" dirty="0">
                <a:solidFill>
                  <a:srgbClr val="E0E0E0"/>
                </a:solidFill>
                <a:latin typeface="Arial Rounded MT Bold" panose="020F0704030504030204" pitchFamily="34" charset="0"/>
              </a:rPr>
              <a:t>We ran 400 episode at an interval of 50 using the new training script.</a:t>
            </a:r>
            <a:endParaRPr lang="en-IN" sz="3200" dirty="0">
              <a:solidFill>
                <a:srgbClr val="E0E0E0"/>
              </a:solidFill>
              <a:latin typeface="Arial Rounded MT Bold" panose="020F0704030504030204" pitchFamily="34" charset="0"/>
            </a:endParaRPr>
          </a:p>
        </p:txBody>
      </p:sp>
      <p:sp>
        <p:nvSpPr>
          <p:cNvPr id="3" name="TextBox 2">
            <a:extLst>
              <a:ext uri="{FF2B5EF4-FFF2-40B4-BE49-F238E27FC236}">
                <a16:creationId xmlns:a16="http://schemas.microsoft.com/office/drawing/2014/main" id="{9B3148CD-9BF2-98AC-101C-15B7B44CA6F8}"/>
              </a:ext>
            </a:extLst>
          </p:cNvPr>
          <p:cNvSpPr txBox="1"/>
          <p:nvPr/>
        </p:nvSpPr>
        <p:spPr>
          <a:xfrm>
            <a:off x="323635" y="195478"/>
            <a:ext cx="10926566" cy="1015663"/>
          </a:xfrm>
          <a:prstGeom prst="rect">
            <a:avLst/>
          </a:prstGeom>
          <a:noFill/>
        </p:spPr>
        <p:txBody>
          <a:bodyPr wrap="square" rtlCol="0">
            <a:spAutoFit/>
          </a:bodyPr>
          <a:lstStyle/>
          <a:p>
            <a:r>
              <a:rPr lang="en-US" sz="6000" dirty="0">
                <a:latin typeface="Arial Black" panose="020B0A04020102020204" pitchFamily="34" charset="0"/>
              </a:rPr>
              <a:t>Breakthrough</a:t>
            </a:r>
            <a:endParaRPr lang="en-IN" sz="6000" dirty="0">
              <a:latin typeface="Arial Black" panose="020B0A04020102020204" pitchFamily="34" charset="0"/>
            </a:endParaRPr>
          </a:p>
        </p:txBody>
      </p:sp>
      <p:sp>
        <p:nvSpPr>
          <p:cNvPr id="4" name="TextBox 3">
            <a:extLst>
              <a:ext uri="{FF2B5EF4-FFF2-40B4-BE49-F238E27FC236}">
                <a16:creationId xmlns:a16="http://schemas.microsoft.com/office/drawing/2014/main" id="{E9C57464-F38E-BC7A-97A7-DBDD62636785}"/>
              </a:ext>
            </a:extLst>
          </p:cNvPr>
          <p:cNvSpPr txBox="1"/>
          <p:nvPr/>
        </p:nvSpPr>
        <p:spPr>
          <a:xfrm>
            <a:off x="264912" y="2746985"/>
            <a:ext cx="11265182" cy="1569660"/>
          </a:xfrm>
          <a:prstGeom prst="rect">
            <a:avLst/>
          </a:prstGeom>
          <a:noFill/>
        </p:spPr>
        <p:txBody>
          <a:bodyPr wrap="square" rtlCol="0">
            <a:spAutoFit/>
          </a:bodyPr>
          <a:lstStyle/>
          <a:p>
            <a:r>
              <a:rPr lang="en-US" sz="3200" dirty="0">
                <a:solidFill>
                  <a:srgbClr val="E0E0E0"/>
                </a:solidFill>
                <a:latin typeface="Arial Rounded MT Bold" panose="020F0704030504030204" pitchFamily="34" charset="0"/>
              </a:rPr>
              <a:t>This time the LLM was actually able to generalize fusion and retention even on complex compiler operation graphs. </a:t>
            </a:r>
            <a:endParaRPr lang="en-IN" sz="3200" dirty="0">
              <a:solidFill>
                <a:srgbClr val="E0E0E0"/>
              </a:solidFill>
              <a:latin typeface="Arial Rounded MT Bold" panose="020F0704030504030204" pitchFamily="34" charset="0"/>
            </a:endParaRPr>
          </a:p>
        </p:txBody>
      </p:sp>
      <p:sp>
        <p:nvSpPr>
          <p:cNvPr id="5" name="TextBox 4">
            <a:extLst>
              <a:ext uri="{FF2B5EF4-FFF2-40B4-BE49-F238E27FC236}">
                <a16:creationId xmlns:a16="http://schemas.microsoft.com/office/drawing/2014/main" id="{6A04CE62-D8E4-9DEA-3A52-3E334EA63137}"/>
              </a:ext>
            </a:extLst>
          </p:cNvPr>
          <p:cNvSpPr txBox="1"/>
          <p:nvPr/>
        </p:nvSpPr>
        <p:spPr>
          <a:xfrm>
            <a:off x="1862356" y="4545958"/>
            <a:ext cx="9169167" cy="646331"/>
          </a:xfrm>
          <a:prstGeom prst="rect">
            <a:avLst/>
          </a:prstGeom>
          <a:noFill/>
        </p:spPr>
        <p:txBody>
          <a:bodyPr wrap="square" rtlCol="0">
            <a:spAutoFit/>
          </a:bodyPr>
          <a:lstStyle/>
          <a:p>
            <a:r>
              <a:rPr lang="en-US" sz="3200" i="1" dirty="0">
                <a:solidFill>
                  <a:srgbClr val="E0E0E0"/>
                </a:solidFill>
              </a:rPr>
              <a:t>Which was the problem </a:t>
            </a:r>
            <a:r>
              <a:rPr lang="en-US" sz="3600" i="1" dirty="0">
                <a:solidFill>
                  <a:srgbClr val="E0E0E0"/>
                </a:solidFill>
              </a:rPr>
              <a:t>statement</a:t>
            </a:r>
            <a:r>
              <a:rPr lang="en-US" sz="3200" i="1" dirty="0">
                <a:solidFill>
                  <a:srgbClr val="E0E0E0"/>
                </a:solidFill>
              </a:rPr>
              <a:t> we started with</a:t>
            </a:r>
            <a:endParaRPr lang="en-IN" sz="3200" i="1" dirty="0">
              <a:solidFill>
                <a:srgbClr val="E0E0E0"/>
              </a:solidFill>
            </a:endParaRPr>
          </a:p>
        </p:txBody>
      </p:sp>
    </p:spTree>
    <p:extLst>
      <p:ext uri="{BB962C8B-B14F-4D97-AF65-F5344CB8AC3E}">
        <p14:creationId xmlns:p14="http://schemas.microsoft.com/office/powerpoint/2010/main" val="39982624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56082"/>
        </a:solidFill>
        <a:effectLst/>
      </p:bgPr>
    </p:bg>
    <p:spTree>
      <p:nvGrpSpPr>
        <p:cNvPr id="1" name="">
          <a:extLst>
            <a:ext uri="{FF2B5EF4-FFF2-40B4-BE49-F238E27FC236}">
              <a16:creationId xmlns:a16="http://schemas.microsoft.com/office/drawing/2014/main" id="{68684D9D-EF5D-D3DC-8255-096EFDB19B9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38AB19F-BB18-62A1-DAF6-2B13860E093C}"/>
              </a:ext>
            </a:extLst>
          </p:cNvPr>
          <p:cNvSpPr txBox="1"/>
          <p:nvPr/>
        </p:nvSpPr>
        <p:spPr>
          <a:xfrm>
            <a:off x="278234" y="4905224"/>
            <a:ext cx="12440873" cy="523220"/>
          </a:xfrm>
          <a:prstGeom prst="rect">
            <a:avLst/>
          </a:prstGeom>
          <a:noFill/>
        </p:spPr>
        <p:txBody>
          <a:bodyPr wrap="square" rtlCol="0">
            <a:spAutoFit/>
          </a:bodyPr>
          <a:lstStyle/>
          <a:p>
            <a:r>
              <a:rPr lang="en-US" sz="2800" dirty="0">
                <a:latin typeface="Arial Rounded MT Bold" panose="020F0704030504030204" pitchFamily="34" charset="0"/>
              </a:rPr>
              <a:t>Interestingly enough after 100 episodes the learning had plateaued.</a:t>
            </a:r>
            <a:endParaRPr lang="en-IN" sz="2800" dirty="0">
              <a:latin typeface="Arial Rounded MT Bold" panose="020F0704030504030204" pitchFamily="34" charset="0"/>
            </a:endParaRPr>
          </a:p>
        </p:txBody>
      </p:sp>
      <p:pic>
        <p:nvPicPr>
          <p:cNvPr id="8" name="Picture 7">
            <a:extLst>
              <a:ext uri="{FF2B5EF4-FFF2-40B4-BE49-F238E27FC236}">
                <a16:creationId xmlns:a16="http://schemas.microsoft.com/office/drawing/2014/main" id="{B230E4C4-8BB9-A4DE-C307-11393B30D0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7288" y="220205"/>
            <a:ext cx="10497424" cy="4544742"/>
          </a:xfrm>
          <a:prstGeom prst="rect">
            <a:avLst/>
          </a:prstGeom>
        </p:spPr>
      </p:pic>
      <p:sp>
        <p:nvSpPr>
          <p:cNvPr id="10" name="TextBox 9">
            <a:extLst>
              <a:ext uri="{FF2B5EF4-FFF2-40B4-BE49-F238E27FC236}">
                <a16:creationId xmlns:a16="http://schemas.microsoft.com/office/drawing/2014/main" id="{617E2F16-4446-D3AE-039F-9EB94C8F3638}"/>
              </a:ext>
            </a:extLst>
          </p:cNvPr>
          <p:cNvSpPr txBox="1"/>
          <p:nvPr/>
        </p:nvSpPr>
        <p:spPr>
          <a:xfrm>
            <a:off x="278234" y="5568721"/>
            <a:ext cx="11913766" cy="954107"/>
          </a:xfrm>
          <a:prstGeom prst="rect">
            <a:avLst/>
          </a:prstGeom>
          <a:noFill/>
        </p:spPr>
        <p:txBody>
          <a:bodyPr wrap="square">
            <a:spAutoFit/>
          </a:bodyPr>
          <a:lstStyle/>
          <a:p>
            <a:r>
              <a:rPr lang="en-US" sz="2800" dirty="0">
                <a:latin typeface="Arial Rounded MT Bold" panose="020F0704030504030204" pitchFamily="34" charset="0"/>
              </a:rPr>
              <a:t>Our observation is that the learning signals past the 100</a:t>
            </a:r>
            <a:r>
              <a:rPr lang="en-US" sz="2800" baseline="30000" dirty="0">
                <a:latin typeface="Arial Rounded MT Bold" panose="020F0704030504030204" pitchFamily="34" charset="0"/>
              </a:rPr>
              <a:t>th</a:t>
            </a:r>
            <a:r>
              <a:rPr lang="en-US" sz="2800" dirty="0">
                <a:latin typeface="Arial Rounded MT Bold" panose="020F0704030504030204" pitchFamily="34" charset="0"/>
              </a:rPr>
              <a:t> episodes have become noisy.</a:t>
            </a:r>
            <a:endParaRPr lang="en-IN" sz="2800" dirty="0">
              <a:latin typeface="Arial Rounded MT Bold" panose="020F0704030504030204" pitchFamily="34" charset="0"/>
            </a:endParaRPr>
          </a:p>
        </p:txBody>
      </p:sp>
    </p:spTree>
    <p:extLst>
      <p:ext uri="{BB962C8B-B14F-4D97-AF65-F5344CB8AC3E}">
        <p14:creationId xmlns:p14="http://schemas.microsoft.com/office/powerpoint/2010/main" val="3949171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56082"/>
        </a:solidFill>
        <a:effectLst/>
      </p:bgPr>
    </p:bg>
    <p:spTree>
      <p:nvGrpSpPr>
        <p:cNvPr id="1" name="">
          <a:extLst>
            <a:ext uri="{FF2B5EF4-FFF2-40B4-BE49-F238E27FC236}">
              <a16:creationId xmlns:a16="http://schemas.microsoft.com/office/drawing/2014/main" id="{2517C31C-623C-A972-0E51-B2595CABD16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F19F8D0-F2AA-3316-72C1-C44DC6FA1725}"/>
              </a:ext>
            </a:extLst>
          </p:cNvPr>
          <p:cNvSpPr txBox="1"/>
          <p:nvPr/>
        </p:nvSpPr>
        <p:spPr>
          <a:xfrm>
            <a:off x="494949" y="1426129"/>
            <a:ext cx="11442583" cy="2246769"/>
          </a:xfrm>
          <a:prstGeom prst="rect">
            <a:avLst/>
          </a:prstGeom>
          <a:noFill/>
        </p:spPr>
        <p:txBody>
          <a:bodyPr wrap="square" rtlCol="0">
            <a:spAutoFit/>
          </a:bodyPr>
          <a:lstStyle/>
          <a:p>
            <a:r>
              <a:rPr lang="en-US" sz="2800" dirty="0">
                <a:solidFill>
                  <a:srgbClr val="E0E0E0"/>
                </a:solidFill>
                <a:latin typeface="Arial Rounded MT Bold" panose="020F0704030504030204" pitchFamily="34" charset="0"/>
              </a:rPr>
              <a:t>Right now, compiler scheduling is partly solved by hardcoding done by the kernel developers and certain parameters are discovered by the user by trial and error and this amounts to around 10-30% optimization which is achieved via human intervention.</a:t>
            </a:r>
            <a:endParaRPr lang="en-IN" sz="2800" dirty="0">
              <a:solidFill>
                <a:srgbClr val="E0E0E0"/>
              </a:solidFill>
              <a:latin typeface="Arial Rounded MT Bold" panose="020F0704030504030204" pitchFamily="34" charset="0"/>
            </a:endParaRPr>
          </a:p>
        </p:txBody>
      </p:sp>
      <p:sp>
        <p:nvSpPr>
          <p:cNvPr id="8" name="TextBox 7">
            <a:extLst>
              <a:ext uri="{FF2B5EF4-FFF2-40B4-BE49-F238E27FC236}">
                <a16:creationId xmlns:a16="http://schemas.microsoft.com/office/drawing/2014/main" id="{A532CFC2-57CC-D3BC-1AC5-731CA6617FB1}"/>
              </a:ext>
            </a:extLst>
          </p:cNvPr>
          <p:cNvSpPr txBox="1"/>
          <p:nvPr/>
        </p:nvSpPr>
        <p:spPr>
          <a:xfrm>
            <a:off x="494950" y="4092347"/>
            <a:ext cx="11442583" cy="954107"/>
          </a:xfrm>
          <a:prstGeom prst="rect">
            <a:avLst/>
          </a:prstGeom>
          <a:noFill/>
        </p:spPr>
        <p:txBody>
          <a:bodyPr wrap="square" rtlCol="0">
            <a:spAutoFit/>
          </a:bodyPr>
          <a:lstStyle/>
          <a:p>
            <a:r>
              <a:rPr lang="en-US" sz="2800" dirty="0">
                <a:solidFill>
                  <a:srgbClr val="E0E0E0"/>
                </a:solidFill>
                <a:latin typeface="Arial Rounded MT Bold" panose="020F0704030504030204" pitchFamily="34" charset="0"/>
              </a:rPr>
              <a:t>We have achieved 17% optimization in compiler latency, purely via training an LLM in our environment in our first iteration itself.</a:t>
            </a:r>
            <a:endParaRPr lang="en-IN" sz="2800" dirty="0">
              <a:solidFill>
                <a:srgbClr val="E0E0E0"/>
              </a:solidFill>
              <a:latin typeface="Arial Rounded MT Bold" panose="020F0704030504030204" pitchFamily="34" charset="0"/>
            </a:endParaRPr>
          </a:p>
        </p:txBody>
      </p:sp>
    </p:spTree>
    <p:extLst>
      <p:ext uri="{BB962C8B-B14F-4D97-AF65-F5344CB8AC3E}">
        <p14:creationId xmlns:p14="http://schemas.microsoft.com/office/powerpoint/2010/main" val="10842983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359</TotalTime>
  <Words>780</Words>
  <Application>Microsoft Office PowerPoint</Application>
  <PresentationFormat>Widescreen</PresentationFormat>
  <Paragraphs>54</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Aptos</vt:lpstr>
      <vt:lpstr>Aptos Display</vt:lpstr>
      <vt:lpstr>Arial</vt:lpstr>
      <vt:lpstr>Arial Black</vt:lpstr>
      <vt:lpstr>Arial Rounded MT Bold</vt:lpstr>
      <vt:lpstr>Bahnschrift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anshulbadhani123@gmail.com</dc:creator>
  <cp:lastModifiedBy>anshulbadhani123@gmail.com</cp:lastModifiedBy>
  <cp:revision>7</cp:revision>
  <dcterms:created xsi:type="dcterms:W3CDTF">2026-04-25T10:36:23Z</dcterms:created>
  <dcterms:modified xsi:type="dcterms:W3CDTF">2026-04-26T05:51:19Z</dcterms:modified>
</cp:coreProperties>
</file>